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Bom dia a todos. Sou o [Aluno 1] e, com meus colegas [Aluno 2] e [Aluno 3], apresentamos o Grupo 4 na disciplina de Tópicos Especiais em Visão Computacional, ministrada pelo Prof. Dr. José Denes Lima Araújo. Nosso seminário traz uma análise comparativa e discussão crítica rigorosa entre dois artigos completos da Sociedade Brasileira de Computação (SBC): o modelo convolucional da UFCSPA para tumores cerebrais publicado no BRACIS 2023, e o estudo da PUC Minas e UFMG de 2025 sobre Vision Transformers com patches dinâmicos na citopatologia cervical. Ao longo dos próximos 35 minutos, abordaremos arquiteturas, dados, validações e o confronto teórico entre viés indutivo e autoatenção.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Estruturamos nosso seminário em três blocos bem delineados de cerca de 11 minutos e meio cada. No Bloco 1, liderado por mim, apresentarei o contexto médico geral e a desconstrução completa do Artigo 1 da UFCSPA: o problema clínico, a auditoria na base de dados, a arquitetura inspirada na AlexNet, o protocolo K-Fold e os mapas Grad-CAM com validação externa. No Bloco 2, o colega [Aluno 2] apresentará o Artigo 2 da PUC Minas e UFMG, detalhando a citologia de Papanicolau, o particionamento anti-leakage por paciente e as 5 abordagens de patches dinâmicos. No Bloco 3, o colega [Aluno 3] conduzirá o duelo teórico entre viés indutivo e fome de dados, a análise de causa-raiz do fracasso dos patches dinâmicos, a matriz comparativa e as conclusões finais.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medicina, a visão computacional enfrenta desafios radicalmente distintos de tarefas convencionais de IA. Primeiro, a escassez de dados rotulados por especialistas, pois cada anotação de máscara ou laudo demanda tempo precioso de radiologistas e patologistas. Segundo, o desbalanceamento intrínseco: patologias letais ou raras representam frações minúsculas do volume de exames de rotina. Terceiro, o custo assimétrico do erro: um falso-positivo gera exames adicionais, mas um falso-negativo em oncologia pode custar a vida do paciente. E quarto, a explicabilidade obrigatória: sistemas de saúde rejeitam modelos caixa-preta. Veremos como o Artigo 1 atacou um problema macroestrutural em ressonância magnética com CNNs e como o Artigo 2 abordou a microestrutura celular citológica através de Vision Transformers.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Entrando na análise profunda do Artigo 1, publicado no BRACIS 2023 por pesquisadores da UFCSPA em Porto Alegre: o problema clínico é o diagnóstico diferencial de neoplasias encefálicas em ressonância magnética. O Glioma é uma neoplasia com origem em células gliais, altamente infiltrativa e de prognóstico crítico se não ressecada imediatamente. O Meningioma tem origem nas meninges durais, sendo tipicamente benigno e circunscrito. A classe Sem Tumor é crucial para evitar alarmes falsos na triagem populacional. E os tumores de Hipófise localizam-se na sela túrcica, comprimindo o quiasma óptico e provocando disfunção endócrina. A meta dos autores foi criar um classificador leve e transparente que pudesse ser executado em hospitais regionais sem computadores caros.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dos pontos metodológicos de maior destaque da UFCSPA foi o rigor na curadoria sanitária de dados. Ao inspecionarem visualmente o popular benchmark Brain Tumor MRI Dataset do Kaggle, com mais de 7 mil imagens, os pesquisadores descobriram a presença de rótulos incorretos — label noise grave. A pasta de Gliomas continha fatias de meningiomas e até cérebros sem tumor catalogados erroneamente! Em vez de deixar a rede treinar sobre dados ruidosos, os autores realizaram uma substituição cirúrgica das amostras defeituosas por imagens fidedignas do dataset Figshare, validado por médicos especialistas. Isso consolidou um conjunto de treino de 5.531 fatias e um teste isolado de 1.297 fatias. Uma autêntica lição de Data-Centric AI.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pipeline de pré-processamento, todas as imagens de ressonância foram redimensionadas para matrizes compactas de 64 por 64 pixels e normalizadas dividindo-se por 255. O tamanho reduzido permitiu derrubar drasticamente a contagem de parâmetros treináveis. Para contornar o desbalanceamento intrínseco — onde glioma representava apenas 20% das fatias contra quase 29% de casos normais —, os autores injetaram pesos de classe diretamente na função de perda estocástica, aplicando peso 1.21 para gliomas e 0.86 para casos normais. Destaco que a separação de treino e teste foi realizada antes da normalização, eliminando qualquer risco de data leakage estatístico, e as amostras foram reembaralhadas a cada época de treino.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arquitetura convolucional foi inspirada na clássica AlexNet, mas remodelada para um design modular enxuto e adaptado a matrizes 64 por 64. Ela consiste em 3 blocos convolucionais sucessivos com filtros crescentes de 16, 32 e 64, todos com kernels 3 por 3 e ativações ReLU seguidas de max-pooling 2 por 2. O diferencial de engenharia é o perfil de Dropout progressivo: 20% no primeiro bloco para preservar bordas e contrastes básicos, subindo para 25% no segundo e chegando a 30% no terceiro para evitar coadaptação de neurônios de alto nível. Na cabeça de classificação, a camada densa intermediária com 32 neurônios conta com penalização de norma L2, culminando em 4 neurônios com ativação Softmax para fornecer as probabilidades diagnósticas.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treinamento foi estruturado sob o protocolo de 5-Fold Cross Validation sobre as 5.531 imagens de treino, assegurando confiabilidade estatística e mitigando dependências de um particionamento conveniente. Otimizador Adam, batch size de 32 e teto de 60 épocas. O controle fino do gradiente dependeu de uma trindade de callbacks inteligentes: um Early Stopping com tolerância de 18 épocas para interromper o treino em platô; o ReduceLROnPlateau, que reduzia a taxa de aprendizado em 80% (fator 0.2) caso a perda de validação ficasse estagnada por 5 épocas seguidas; e o ModelCheckpoint, que salvava unicamente o estado de pesos com a menor perda histórica.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 avaliação final sobre o conjunto de teste cego independente com 1.311 imagens nunca vistas, o modelo convolucional alcançou 99,0% de acurácia global. Do ponto de vista médico-oncológico, o dado mais contundente é a classe Glioma: a rede obteve precisão de 100%, revocação de 100% e F1-score de 1,00 em todas as 286 amostras de teste. Isso significa que o modelo produziu exatamente zero falso-negativo para a neoplasia mais letal e de progressão mais rápida. Meningioma atingiu F1 de 0,98, Hipófise 0,99 e Sem Tumor 0,99, com áreas sob a curva ROC praticamente unitárias para todas as patologias.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certificar que o modelo não estava tomando decisões baseado em ruídos de borda ou ossos do crânio, os pesquisadores aplicaram a técnica Grad-CAM nas últimas camadas convolucionais. Os gradientes ponderados da classe predita geraram mapas térmicos perfeitamente centrados sobre o epicentro da lesão tumoral. E mais relevante ainda: os autores validaram o Grad-CAM em imagens de ressonância de uma base de dados externa completamente inédita (Bhuvaji et al.), provando que a explicabilidade visual generalizou com sucesso para exames de outros aparelhos. Com isso, encerro o Bloco 1 e passo a palavra ao colega [Aluno 2], que nos apresentará o Artigo 2 sobre Vision Transformers na citopatologia cervical.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Obrigado, [Aluno 1]. Iniciando o Bloco 2 com a desconstrução do Artigo 2, publicado em 2025 nos anais da SBC pelos pesquisadores Vinícius Giovanini e Alexei Machado, da PUC Minas e da Faculdade de Medicina da UFMG. O desafio abordado é o rastreamento citopatológico precoce do câncer de colo uterino através de lâminas de Papanicolau. O problema foi modelado em seis categorias citológicas do Sistema Bethesda: células sadias NFIL, atipias de significado indeterminado ASC-US e ASC-H, lesões pré-malignas de baixo grau LSIL e alto grau HSIL, e o carcinoma invasor SCC. A análise microscópica manual de centenas de milhares de células em uma única lâmina causa severa fadiga visual e alta discordância entre citotécnicos. Os autores investigaram se os modernos Vision Transformers poderiam automatizar esse diagnóstico.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autores utilizaram a base de dados pública CRIC, desenvolvida pela Universidade Federal de Ouro Preto (UFOP), contendo 11.534 núcleos celulares recortados de 400 imagens de lâminas microscópicas reais. Aqui quero destacar o padrão-ouro metodológico do Artigo 2: o particionamento entre treino, validação e teste foi feito estritamente por paciente — 64% das pacientes para treino, 20% para validação e 16% para teste independente. Nenhuma célula de uma mesma paciente apareceu em mais de um subconjunto. Isso é vital na citopatologia: cada lâmina possui variações únicas de pH, espessura e tonalidade de corante. Se a divisão fosse aleatória por células, o modelo aprenderia a memorizar o tom de fundo da lâmina daquela paciente e não a atipia celular. Notem também a severidade do desbalanceamento original: havia mais de 6.700 células normais contra apenas 161 de carcinoma invasor.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evitar que o Vision Transformer convergisse prevendo apenas a classe NFIL majoritária, os autores calibraram o subconjunto de treinamento em exatamente 1.000 amostras por classe, totalizando 6.000 imagens balanceadas. As classes raras — em especial o carcinoma SCC, que tinha apenas 103 instâncias originais no treino — foram multiplicadas via oversampling utilizando a biblioteca Albumentations com rotações angulares, reflexões horizontais e verticais, preservando a morfologia biológica. Por outro lado, as classes majoritárias como NFIL foram subamostradas aleatoriamente de 4.339 para 1.000. Crucial destacar: os subconjuntos de validação e teste permaneceram intactos em suas proporções reais da clínica.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Entrando na arquitetura dos Vision Transformers, proposta originalmente por Dosovitskiy em 2020: imagens de 224 por 224 pixels são fatiadas em 196 patches de 16 por 16 pixels. Diferente das convoluções que processam tensores 2D mantendo a geometria local contínua, o ViT projeta esses patches em tokens 1D e aplica o mecanismo de Autoatenção Multi-Head. Cada patch calcula atenção em relação a todos os outros patches da imagem simultaneamente, resultando em complexidade quadrática O de N ao quadrado. Um token especial de classificação [CLS] é adicionado à sequência e soma-se um vetor de positional embeddings para preservar a noção de ordem espacial.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 dos pontos técnicos mais refinados analisados no Artigo 2 foi a comparação entre dois modos de projetar os patches: a Projeção Linear pura e a Projeção Convolucional. Na Projeção Linear clássica de Dosovitskiy, os 768 números de cada patch de 16 por 16 são vetorizados e multiplicados por uma matriz linear simples. O modelo não tem qualquer pista espacial inicial sobre as bordas daquele patch. Já na Projeção Convolucional, aplica-se uma camada Conv2D com kernel 16 por 16 e stride 16. Essa convolução prévia extrai gradientes locais e bordas celulares antes de alimentar os tokens no codificador de atenção. Como veremos, essa camada convolucional reintroduziu o viés indutivo e superou a projeção linear em absolutamente todos os testes experimentais.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Aqui reside a grande hipótese de inovação formulada por Giovanini e Machado: em citologia, o núcleo anômalo ocupa apenas um quadrado central de cerca de 90 por 90 pixels, enquanto o restante da imagem é citoplasma homogêneo ou fundo branco da lâmina. A pergunta dos autores foi: por que gastar patches de 16 por 16 e computação quadrática de atenção sobre áreas vazias de lâmina? Eles formularam cinco métodos dinâmicos de extração de patches: a Seleção Randômica uniforme SR; a Randômica Aprimorada RA com distância euclidiana mínima entre centros; a Seleção por Segmentação SS, que utiliza o algoritmo GrabCut para gerar uma máscara celular com fallback se a célula ocupar menos de 10% da imagem; a varredura em Zigue-Zague ZZ; e a extração concêntrica em Espiral ES, que inicia no núcleo e expande em direção à periferia.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treinamento de Vision Transformers impôs demandas computacionais substancialmente mais pesadas que a CNN do primeiro artigo. Os autores operaram em dois ambientes: uma estação de trabalho local com GPU RTX 2060 de 6 GB de VRAM para treinar o ViT-Tiny e ViT-Small; e o Google Colab PRO com GPU Tesla T4 de 15 GB para carregar os 86 milhões de parâmetros do ViT-Base. Para adaptar os pesos pré-treinados na ImageNet-21k, os autores aplicaram uma estratégia de descongelamento seletivo: no ViT-Small, descongelaram os 2 primeiros blocos e os 3 últimos blocos do codificador, mantendo as camadas intermediárias congeladas. Já no ViT-Base, devido a gargalos de memória na T4, apenas o último bloco MLP pôde ser descongelado, gerando subajuste estrutural.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Chegamos agora aos achados experimentais cruciais da Tabela 2 do artigo, revelando o que chamamos de Paradoxo do Grid. O modelo ViT-Small convencional baseline — utilizando a simples grade estática uniforme de 14 por 14 patches com projeção convolucional — alcançou 79% de acurácia no teste e 81% na validação, superando todas as cinco abordagens dinâmicas propostas! Dentre os métodos dinâmicos, a extração em Espiral com Conv2D foi a melhor colocada com 78%, e a projeção convolucional superou a linear pura em absolutamente todas as configurações com ganhos de até 11%. Transfiro a apresentação agora para o colega [Aluno 3], que explicará as causas desse resultado, confrontará os dois artigos e conduzirá a análise comparativa final.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Obrigado, [Aluno 2]. O desfecho experimental do Artigo 2 nos ensina lições profundas sobre os limites dos Vision Transformers. A hipótese dos patches dinâmicos parecia lógica e atraente, mas foi refutada por três causas fundamentais: Primeira: Super-Aglomeração Espacial. Ao forçar 196 patches de 16 por 16 pixels dentro de uma área central de 90 por 90, os patches sobrepuseram-se em mais de 80%. Múltiplos patches capturavam o mesmo grupo de pixels; os tensores de consulta e chave da autoatenção tornaram-se quase cópias idênticas, colapsando a atenção em pura redundância. Segunda: Quebra dos Positional Embeddings. O ViT foi pré-treinado na ImageNet sobre uma grade cartesiana 14 por 14. Quando injetamos coordenadas em espiral ou aleatórias sobre os mesmos índices posicionais, destruímos a topologia aprendida. E terceira: a Biologia Celular do Sistema Bethesda. Patologistas diferenciam lesões avaliando a proporção entre o núcleo e o citoplasma. Ao concentrar todos os patches no núcleo, o modelo perdeu a visão periférica do citoplasma, contexto que o grid convencional retém com perfeição.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Ao confrontarmos os dois paradigmas, entramos no cerne da teoria de Visão Computacional: o duelo entre Viés Indutivo e Fome de Dados (Data-Hunger). As Redes Neurais Convolucionais do Artigo 1 trazem em sua formulação matemática operadores que assumem conectividade local e invariância à translação. Por isso, a CNN da UFCSPA necessitou de apenas 5.500 imagens de ressonância para atingir 99% de acurácia treinando do zero. Já o Vision Transformer do Artigo 2 trata a imagem como uma sequência desordenada e calcula correlações all-to-all. Para aprender geometria visual sem viés prévio, o ViT requer dezenas de milhões de imagens. Quando comparamos o ViT com o estado da arte na base CRIC — obtido por Diniz et al. em 2021 através de um Ensemble de CNNs que atingiu 95% —, vemos a limitação: o ViT estagnou em 79%. O pré-treino da ImageNet com objetos naturais ajuda pouco na citopatologia, e bases médicas pequenas sofrem com a fome de dados dos transformadores.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matriz comparativa consolida sistematicamente a desconstrução técnica de ambos os trabalhos sob 16 dimensões analíticas. No Artigo 1, vemos um projeto cirúrgico de engenharia: uma CNN customizada extremamente enxuta, treinada do zero em imagens de 64 por 64 pixels, que alcançou 99% de acurácia global com custo computacional mínimo e alta transparência via Grad-CAM. No Artigo 2, temos uma incursão investigativa na fronteira dos Vision Transformers, trabalhando em 224 por 224 com modelos de dezenas de milhões de parâmetros, fine-tuning na ImageNet-21k e GPUs de grande porte como a Tesla T4. Dois domínios de saúde pública de altíssima relevância nacional — neuro-oncologia e saúde da mulher —, abordados por duas escolas metodológicas distintas.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Exercendo nossa capacidade de avaliação crítica independente, devemos auditar a integridade metodológica de validação de ambos os trabalhos. O Artigo 2 recebe nota máxima no protocolo de particionamento: a divisão estrita por paciente elimina o risco de memorização de artefatos de lâmina. Seus 79% de acurácia refletem uma capacidade de generalização autêntica para novos indivíduos. Já no Artigo 1, embora os 99% de acurácia sejam impressionantes, existe uma vulnerabilidade metodológica latente em datasets públicos de ressonância 2D: o risco de slice leakage. Caso fatias adjacentes do mesmo crânio tenham sido distribuídas entre treino e teste, o modelo pode ter se beneficiado de correlações visuais redundantes. A UFCSPA mitigou brilhantemente essa desconfiança ao demonstrar que os mapas Grad-CAM mantiveram a ativação na massa tumoral em uma base externa completamente inédita, mas para futuros trabalhos clínicos, a divisão por volume tridimensional de paciente é mandatória.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futuros profissionais de computação, sintetizamos as lições dos dois artigos em uma árvore de decisão prescritiva de engenharia. Se o projeto biomédico possui menos de 10 mil amostras rotuladas e restrição de hardware, a escolha mandatória deve ser uma Rede Convolucional especializada e fortemente regularizada, assim como fez a UFCSPA. Ela é barata, eficiente, possui convergência previsível e viés indutivo adequado. Vision Transformers só devem ser adotados quando houver dezenas ou centenas de milhares de imagens — como na análise de lâminas inteiras em Whole Slide Imaging —, e mesmo assim, a recomendação categórica é manter a extração em Grid Regular uniforme associada à projeção convolucional Conv2D, evitando a fragmentação dinâmica descontrolada de patches.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Queremos destacar o imenso valor epistemológico do 'resultado negativo' trazido pelo Artigo 2. Na academia e na indústria de IA, existe uma tentação constante de esconder resultados que não bateram recordes de acurácia. A publicação de Giovanini e Machado nos anais da SBC é um ato de maturidade e rigor científico: eles formularam uma hipótese plausível, projetaram 5 métodos, executaram testes cegos e provaram que a amostragem dinâmica quebra a atenção e destrói os embeddings posicionais. Isso economiza centenas de horas de GPU para a comunidade científica internacional. Junto a isso, o Artigo 1 reforça que curadoria cirúrgica de dados e explicabilidade clínica com Grad-CAM são pré-requisitos absolutos antes de qualquer homologação em saúde pública.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Concluímos nosso estudo com uma síntese clara: o Artigo 1 validou a eficácia da simplicidade e da parcimônia convolucional em ressonância magnética, garantindo 100% de sensibilidade no diagnóstico do glioma e explicabilidade sólida. O Artigo 2 descortinou as limitações dos Vision Transformers em datasets celulares modestos, demonstrando a superioridade da grade uniforme e o papel redentor da projeção convolucional. Para o futuro da citopatologia digital, propomos três direções: adotar arquiteturas hierárquicas como o Swin Transformer; modelar embeddings posicionais radiais contínuos para geometrias em espiral; e explorar modelos generativos de difusão para expandir a amostragem de carcinomas invasivos raros, saciando a fome de dados dos transformadores.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Agradecemos a atenção do Prof. Dr. José Denes Lima Araújo e de todos os colegas presentes. Encerramos nossa apresentação rigorosamente na marca dos 34 minutos e 30 segundos, em pleno cumprimento do edital e preservando o tempo regulamentar para a arguição técnica. Todo o trio está a postos e à disposição para as perguntas e considerações da banca. Muito obrigado!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00:00 - 01:00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800">
                <a:solidFill>
                  <a:srgbClr val="F8FAFC"/>
                </a:solidFill>
              </a:defRPr>
            </a:pPr>
            <a:r>
              <a:t>Convoluções Clássicas vs. Vision Transformers na Saúde</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Análise Comparativa Multidimensional e Discussão Crítica de Dois Artigos Completos</a:t>
            </a:r>
          </a:p>
        </p:txBody>
      </p:sp>
      <p:sp>
        <p:nvSpPr>
          <p:cNvPr id="7" name="Rounded Rectangle 6"/>
          <p:cNvSpPr/>
          <p:nvPr/>
        </p:nvSpPr>
        <p:spPr>
          <a:xfrm>
            <a:off x="731520" y="1965960"/>
            <a:ext cx="10469880" cy="3657600"/>
          </a:xfrm>
          <a:prstGeom prst="roundRect">
            <a:avLst/>
          </a:prstGeom>
          <a:solidFill>
            <a:srgbClr val="161E31"/>
          </a:solidFill>
          <a:ln>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p>
          <a:p>
            <a:pPr>
              <a:spcBef>
                <a:spcPts val="600"/>
              </a:spcBef>
              <a:defRPr sz="1200">
                <a:solidFill>
                  <a:srgbClr val="94A3B8"/>
                </a:solidFill>
              </a:defRPr>
            </a:pPr>
            <a:r>
              <a:t>Universidade Federal do Piauí — UFPI</a:t>
            </a:r>
          </a:p>
          <a:p>
            <a:pPr>
              <a:spcBef>
                <a:spcPts val="600"/>
              </a:spcBef>
              <a:defRPr sz="1200">
                <a:solidFill>
                  <a:srgbClr val="94A3B8"/>
                </a:solidFill>
              </a:defRPr>
            </a:pPr>
            <a:r>
              <a:t>Centro de Tecnologia • Disciplina: Tópicos Especiais em Visão Computacional</a:t>
            </a:r>
          </a:p>
          <a:p>
            <a:pPr>
              <a:spcBef>
                <a:spcPts val="600"/>
              </a:spcBef>
              <a:defRPr sz="1200">
                <a:solidFill>
                  <a:srgbClr val="94A3B8"/>
                </a:solidFill>
              </a:defRPr>
            </a:pPr>
            <a:r>
              <a:t>Orientador: Prof. Dr. José Denes Lima Araújo</a:t>
            </a:r>
          </a:p>
          <a:p>
            <a:pPr>
              <a:spcBef>
                <a:spcPts val="600"/>
              </a:spcBef>
              <a:defRPr sz="1200">
                <a:solidFill>
                  <a:srgbClr val="94A3B8"/>
                </a:solidFill>
              </a:defRPr>
            </a:pPr>
            <a:r>
              <a:t>Grupo 4: Integrante 1 (Aluno 1) • Integrante 2 (Aluno 2) • Integrante 3 (Aluno 3)</a:t>
            </a:r>
          </a:p>
        </p:txBody>
      </p:sp>
      <p:sp>
        <p:nvSpPr>
          <p:cNvPr id="8" name="TextBox 7"/>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9" name="TextBox 8"/>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01 / 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ROTEIRO DA SESSÃO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01:00 - 02:00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Estrutura do Seminário e Cronograma Oral</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Divisão Estratégica em Três Blocos Especializados (Meta: 34 a 36 Minutos)</a:t>
            </a:r>
          </a:p>
        </p:txBody>
      </p:sp>
      <p:sp>
        <p:nvSpPr>
          <p:cNvPr id="7" name="Rounded Rectangle 6"/>
          <p:cNvSpPr/>
          <p:nvPr/>
        </p:nvSpPr>
        <p:spPr>
          <a:xfrm>
            <a:off x="731520" y="1965960"/>
            <a:ext cx="33832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Desafios da Visão Computacional Médica</a:t>
            </a:r>
          </a:p>
          <a:p>
            <a:pPr>
              <a:spcBef>
                <a:spcPts val="300"/>
              </a:spcBef>
              <a:defRPr sz="1100">
                <a:solidFill>
                  <a:srgbClr val="E2E8F0"/>
                </a:solidFill>
              </a:defRPr>
            </a:pPr>
            <a:r>
              <a:t>• Artigo 1: UFCSPA (BRACIS 2023)</a:t>
            </a:r>
          </a:p>
          <a:p>
            <a:pPr>
              <a:spcBef>
                <a:spcPts val="300"/>
              </a:spcBef>
              <a:defRPr sz="1100">
                <a:solidFill>
                  <a:srgbClr val="E2E8F0"/>
                </a:solidFill>
              </a:defRPr>
            </a:pPr>
            <a:r>
              <a:t>• Curadoria e Substituição com Figshare</a:t>
            </a:r>
          </a:p>
          <a:p>
            <a:pPr>
              <a:spcBef>
                <a:spcPts val="300"/>
              </a:spcBef>
              <a:defRPr sz="1100">
                <a:solidFill>
                  <a:srgbClr val="E2E8F0"/>
                </a:solidFill>
              </a:defRPr>
            </a:pPr>
            <a:r>
              <a:t>• CNN Adaptada e Dropout Progressivo</a:t>
            </a:r>
          </a:p>
          <a:p>
            <a:pPr>
              <a:spcBef>
                <a:spcPts val="300"/>
              </a:spcBef>
              <a:defRPr sz="1100">
                <a:solidFill>
                  <a:srgbClr val="E2E8F0"/>
                </a:solidFill>
              </a:defRPr>
            </a:pPr>
            <a:r>
              <a:t>• 5-Fold, 99% de Acurácia e Grad-CAM</a:t>
            </a:r>
          </a:p>
        </p:txBody>
      </p:sp>
      <p:sp>
        <p:nvSpPr>
          <p:cNvPr id="8" name="Rounded Rectangle 7"/>
          <p:cNvSpPr/>
          <p:nvPr/>
        </p:nvSpPr>
        <p:spPr>
          <a:xfrm>
            <a:off x="4389120" y="1965960"/>
            <a:ext cx="33832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Citopatologia Cervical e Sistema Bethesda</a:t>
            </a:r>
          </a:p>
          <a:p>
            <a:pPr>
              <a:spcBef>
                <a:spcPts val="300"/>
              </a:spcBef>
              <a:defRPr sz="1100">
                <a:solidFill>
                  <a:srgbClr val="E2E8F0"/>
                </a:solidFill>
              </a:defRPr>
            </a:pPr>
            <a:r>
              <a:t>• Artigo 2: PUC Minas / UFMG (2025)</a:t>
            </a:r>
          </a:p>
          <a:p>
            <a:pPr>
              <a:spcBef>
                <a:spcPts val="300"/>
              </a:spcBef>
              <a:defRPr sz="1100">
                <a:solidFill>
                  <a:srgbClr val="E2E8F0"/>
                </a:solidFill>
              </a:defRPr>
            </a:pPr>
            <a:r>
              <a:t>• Dataset CRIC e Split por Paciente</a:t>
            </a:r>
          </a:p>
          <a:p>
            <a:pPr>
              <a:spcBef>
                <a:spcPts val="300"/>
              </a:spcBef>
              <a:defRPr sz="1100">
                <a:solidFill>
                  <a:srgbClr val="E2E8F0"/>
                </a:solidFill>
              </a:defRPr>
            </a:pPr>
            <a:r>
              <a:t>• Mecanismo ViT e Projeção Conv2D</a:t>
            </a:r>
          </a:p>
          <a:p>
            <a:pPr>
              <a:spcBef>
                <a:spcPts val="300"/>
              </a:spcBef>
              <a:defRPr sz="1100">
                <a:solidFill>
                  <a:srgbClr val="E2E8F0"/>
                </a:solidFill>
              </a:defRPr>
            </a:pPr>
            <a:r>
              <a:t>• 5 Técnicas Dinâmicas e o Paradoxo do Grid</a:t>
            </a:r>
          </a:p>
        </p:txBody>
      </p:sp>
      <p:sp>
        <p:nvSpPr>
          <p:cNvPr id="9" name="Rounded Rectangle 8"/>
          <p:cNvSpPr/>
          <p:nvPr/>
        </p:nvSpPr>
        <p:spPr>
          <a:xfrm>
            <a:off x="8046720" y="1965960"/>
            <a:ext cx="33832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Causa-Raiz: Por Que o Grid Venceu?</a:t>
            </a:r>
          </a:p>
          <a:p>
            <a:pPr>
              <a:spcBef>
                <a:spcPts val="300"/>
              </a:spcBef>
              <a:defRPr sz="1100">
                <a:solidFill>
                  <a:srgbClr val="E2E8F0"/>
                </a:solidFill>
              </a:defRPr>
            </a:pPr>
            <a:r>
              <a:t>• Viés Indutivo vs. Fome de Dados (ViT)</a:t>
            </a:r>
          </a:p>
          <a:p>
            <a:pPr>
              <a:spcBef>
                <a:spcPts val="300"/>
              </a:spcBef>
              <a:defRPr sz="1100">
                <a:solidFill>
                  <a:srgbClr val="E2E8F0"/>
                </a:solidFill>
              </a:defRPr>
            </a:pPr>
            <a:r>
              <a:t>• Matriz Comparativa de 16 Dimensões</a:t>
            </a:r>
          </a:p>
          <a:p>
            <a:pPr>
              <a:spcBef>
                <a:spcPts val="300"/>
              </a:spcBef>
              <a:defRPr sz="1100">
                <a:solidFill>
                  <a:srgbClr val="E2E8F0"/>
                </a:solidFill>
              </a:defRPr>
            </a:pPr>
            <a:r>
              <a:t>• Auditoria de Leakage: Slice vs Paciente</a:t>
            </a:r>
          </a:p>
          <a:p>
            <a:pPr>
              <a:spcBef>
                <a:spcPts val="300"/>
              </a:spcBef>
              <a:defRPr sz="1100">
                <a:solidFill>
                  <a:srgbClr val="E2E8F0"/>
                </a:solidFill>
              </a:defRPr>
            </a:pPr>
            <a:r>
              <a:t>• Árvore Decisória e Conclusões Finais</a:t>
            </a:r>
          </a:p>
        </p:txBody>
      </p:sp>
      <p:sp>
        <p:nvSpPr>
          <p:cNvPr id="10" name="TextBox 9"/>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1" name="TextBox 10"/>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CONTEXTO GERAL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02:00 - 03:30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Desafios Singulares da Visão Computacional Médica</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A Fronteira entre Diagnóstico Automatizado e Segurança Clínica</a:t>
            </a:r>
          </a:p>
        </p:txBody>
      </p:sp>
      <p:graphicFrame>
        <p:nvGraphicFramePr>
          <p:cNvPr id="7" name="Table 6"/>
          <p:cNvGraphicFramePr>
            <a:graphicFrameLocks noGrp="1"/>
          </p:cNvGraphicFramePr>
          <p:nvPr/>
        </p:nvGraphicFramePr>
        <p:xfrm>
          <a:off x="731520" y="1965960"/>
          <a:ext cx="10698480" cy="4114800"/>
        </p:xfrm>
        <a:graphic>
          <a:graphicData uri="http://schemas.openxmlformats.org/drawingml/2006/table">
            <a:tbl>
              <a:tblPr firstRow="1" bandRow="1">
                <a:tableStyleId>{5C22544A-7EE6-4342-B048-85BDC9FD1C3A}</a:tableStyleId>
              </a:tblPr>
              <a:tblGrid>
                <a:gridCol w="3566160"/>
                <a:gridCol w="3566160"/>
                <a:gridCol w="3566160"/>
              </a:tblGrid>
              <a:tr h="685800">
                <a:tc>
                  <a:txBody>
                    <a:bodyPr/>
                    <a:lstStyle/>
                    <a:p>
                      <a:pPr>
                        <a:defRPr sz="1000" b="1">
                          <a:solidFill>
                            <a:srgbClr val="38BDF8"/>
                          </a:solidFill>
                        </a:defRPr>
                      </a:pPr>
                      <a:r>
                        <a:t>Dimensão</a:t>
                      </a:r>
                    </a:p>
                  </a:txBody>
                  <a:tcPr>
                    <a:solidFill>
                      <a:srgbClr val="1E293B"/>
                    </a:solidFill>
                  </a:tcPr>
                </a:tc>
                <a:tc>
                  <a:txBody>
                    <a:bodyPr/>
                    <a:lstStyle/>
                    <a:p>
                      <a:pPr>
                        <a:defRPr sz="1000" b="1">
                          <a:solidFill>
                            <a:srgbClr val="38BDF8"/>
                          </a:solidFill>
                        </a:defRPr>
                      </a:pPr>
                      <a:r>
                        <a:t>Macroestrutural (Artigo 1)</a:t>
                      </a:r>
                    </a:p>
                  </a:txBody>
                  <a:tcPr>
                    <a:solidFill>
                      <a:srgbClr val="1E293B"/>
                    </a:solidFill>
                  </a:tcPr>
                </a:tc>
                <a:tc>
                  <a:txBody>
                    <a:bodyPr/>
                    <a:lstStyle/>
                    <a:p>
                      <a:pPr>
                        <a:defRPr sz="1000" b="1">
                          <a:solidFill>
                            <a:srgbClr val="38BDF8"/>
                          </a:solidFill>
                        </a:defRPr>
                      </a:pPr>
                      <a:r>
                        <a:t>Microestrutural (Artigo 2)</a:t>
                      </a:r>
                    </a:p>
                  </a:txBody>
                  <a:tcPr>
                    <a:solidFill>
                      <a:srgbClr val="1E293B"/>
                    </a:solidFill>
                  </a:tcPr>
                </a:tc>
              </a:tr>
              <a:tr h="685800">
                <a:tc>
                  <a:txBody>
                    <a:bodyPr/>
                    <a:lstStyle/>
                    <a:p>
                      <a:pPr>
                        <a:defRPr sz="950" b="0">
                          <a:solidFill>
                            <a:srgbClr val="E2E8F0"/>
                          </a:solidFill>
                        </a:defRPr>
                      </a:pPr>
                      <a:r>
                        <a:t>Exame</a:t>
                      </a:r>
                    </a:p>
                  </a:txBody>
                  <a:tcPr>
                    <a:solidFill>
                      <a:srgbClr val="141D30"/>
                    </a:solidFill>
                  </a:tcPr>
                </a:tc>
                <a:tc>
                  <a:txBody>
                    <a:bodyPr/>
                    <a:lstStyle/>
                    <a:p>
                      <a:pPr>
                        <a:defRPr sz="950" b="0">
                          <a:solidFill>
                            <a:srgbClr val="E2E8F0"/>
                          </a:solidFill>
                        </a:defRPr>
                      </a:pPr>
                      <a:r>
                        <a:t>Ressonância Magnética (MRI)</a:t>
                      </a:r>
                    </a:p>
                  </a:txBody>
                  <a:tcPr>
                    <a:solidFill>
                      <a:srgbClr val="141D30"/>
                    </a:solidFill>
                  </a:tcPr>
                </a:tc>
                <a:tc>
                  <a:txBody>
                    <a:bodyPr/>
                    <a:lstStyle/>
                    <a:p>
                      <a:pPr>
                        <a:defRPr sz="950" b="0">
                          <a:solidFill>
                            <a:srgbClr val="E2E8F0"/>
                          </a:solidFill>
                        </a:defRPr>
                      </a:pPr>
                      <a:r>
                        <a:t>Citopatologia (Papanicolau)</a:t>
                      </a:r>
                    </a:p>
                  </a:txBody>
                  <a:tcPr>
                    <a:solidFill>
                      <a:srgbClr val="141D30"/>
                    </a:solidFill>
                  </a:tcPr>
                </a:tc>
              </a:tr>
              <a:tr h="685800">
                <a:tc>
                  <a:txBody>
                    <a:bodyPr/>
                    <a:lstStyle/>
                    <a:p>
                      <a:pPr>
                        <a:defRPr sz="950" b="0">
                          <a:solidFill>
                            <a:srgbClr val="E2E8F0"/>
                          </a:solidFill>
                        </a:defRPr>
                      </a:pPr>
                      <a:r>
                        <a:t>Alvo</a:t>
                      </a:r>
                    </a:p>
                  </a:txBody>
                  <a:tcPr>
                    <a:solidFill>
                      <a:srgbClr val="161E31"/>
                    </a:solidFill>
                  </a:tcPr>
                </a:tc>
                <a:tc>
                  <a:txBody>
                    <a:bodyPr/>
                    <a:lstStyle/>
                    <a:p>
                      <a:pPr>
                        <a:defRPr sz="950" b="0">
                          <a:solidFill>
                            <a:srgbClr val="E2E8F0"/>
                          </a:solidFill>
                        </a:defRPr>
                      </a:pPr>
                      <a:r>
                        <a:t>Massa tecidual encefálica (cm)</a:t>
                      </a:r>
                    </a:p>
                  </a:txBody>
                  <a:tcPr>
                    <a:solidFill>
                      <a:srgbClr val="161E31"/>
                    </a:solidFill>
                  </a:tcPr>
                </a:tc>
                <a:tc>
                  <a:txBody>
                    <a:bodyPr/>
                    <a:lstStyle/>
                    <a:p>
                      <a:pPr>
                        <a:defRPr sz="950" b="0">
                          <a:solidFill>
                            <a:srgbClr val="E2E8F0"/>
                          </a:solidFill>
                        </a:defRPr>
                      </a:pPr>
                      <a:r>
                        <a:t>Atipia de núcleo celular (µm)</a:t>
                      </a:r>
                    </a:p>
                  </a:txBody>
                  <a:tcPr>
                    <a:solidFill>
                      <a:srgbClr val="161E31"/>
                    </a:solidFill>
                  </a:tcPr>
                </a:tc>
              </a:tr>
              <a:tr h="685800">
                <a:tc>
                  <a:txBody>
                    <a:bodyPr/>
                    <a:lstStyle/>
                    <a:p>
                      <a:pPr>
                        <a:defRPr sz="950" b="0">
                          <a:solidFill>
                            <a:srgbClr val="E2E8F0"/>
                          </a:solidFill>
                        </a:defRPr>
                      </a:pPr>
                      <a:r>
                        <a:t>Entrada</a:t>
                      </a:r>
                    </a:p>
                  </a:txBody>
                  <a:tcPr>
                    <a:solidFill>
                      <a:srgbClr val="141D30"/>
                    </a:solidFill>
                  </a:tcPr>
                </a:tc>
                <a:tc>
                  <a:txBody>
                    <a:bodyPr/>
                    <a:lstStyle/>
                    <a:p>
                      <a:pPr>
                        <a:defRPr sz="950" b="0">
                          <a:solidFill>
                            <a:srgbClr val="E2E8F0"/>
                          </a:solidFill>
                        </a:defRPr>
                      </a:pPr>
                      <a:r>
                        <a:t>$64 \times 64$ fatias axiais</a:t>
                      </a:r>
                    </a:p>
                  </a:txBody>
                  <a:tcPr>
                    <a:solidFill>
                      <a:srgbClr val="141D30"/>
                    </a:solidFill>
                  </a:tcPr>
                </a:tc>
                <a:tc>
                  <a:txBody>
                    <a:bodyPr/>
                    <a:lstStyle/>
                    <a:p>
                      <a:pPr>
                        <a:defRPr sz="950" b="0">
                          <a:solidFill>
                            <a:srgbClr val="E2E8F0"/>
                          </a:solidFill>
                        </a:defRPr>
                      </a:pPr>
                      <a:r>
                        <a:t>$224 \times 224$ (núcleos recortados)</a:t>
                      </a:r>
                    </a:p>
                  </a:txBody>
                  <a:tcPr>
                    <a:solidFill>
                      <a:srgbClr val="141D30"/>
                    </a:solidFill>
                  </a:tcPr>
                </a:tc>
              </a:tr>
              <a:tr h="685800">
                <a:tc>
                  <a:txBody>
                    <a:bodyPr/>
                    <a:lstStyle/>
                    <a:p>
                      <a:pPr>
                        <a:defRPr sz="950" b="0">
                          <a:solidFill>
                            <a:srgbClr val="E2E8F0"/>
                          </a:solidFill>
                        </a:defRPr>
                      </a:pPr>
                      <a:r>
                        <a:t>Paradigma</a:t>
                      </a:r>
                    </a:p>
                  </a:txBody>
                  <a:tcPr>
                    <a:solidFill>
                      <a:srgbClr val="161E31"/>
                    </a:solidFill>
                  </a:tcPr>
                </a:tc>
                <a:tc>
                  <a:txBody>
                    <a:bodyPr/>
                    <a:lstStyle/>
                    <a:p>
                      <a:pPr>
                        <a:defRPr sz="950" b="0">
                          <a:solidFill>
                            <a:srgbClr val="E2E8F0"/>
                          </a:solidFill>
                        </a:defRPr>
                      </a:pPr>
                      <a:r>
                        <a:t>CNN Customizada (AlexNet)</a:t>
                      </a:r>
                    </a:p>
                  </a:txBody>
                  <a:tcPr>
                    <a:solidFill>
                      <a:srgbClr val="161E31"/>
                    </a:solidFill>
                  </a:tcPr>
                </a:tc>
                <a:tc>
                  <a:txBody>
                    <a:bodyPr/>
                    <a:lstStyle/>
                    <a:p>
                      <a:pPr>
                        <a:defRPr sz="950" b="0">
                          <a:solidFill>
                            <a:srgbClr val="E2E8F0"/>
                          </a:solidFill>
                        </a:defRPr>
                      </a:pPr>
                      <a:r>
                        <a:t>Vision Transformer (ViT)</a:t>
                      </a:r>
                    </a:p>
                  </a:txBody>
                  <a:tcPr>
                    <a:solidFill>
                      <a:srgbClr val="161E31"/>
                    </a:solidFill>
                  </a:tcPr>
                </a:tc>
              </a:tr>
              <a:tr h="685800">
                <a:tc>
                  <a:txBody>
                    <a:bodyPr/>
                    <a:lstStyle/>
                    <a:p>
                      <a:pPr>
                        <a:defRPr sz="950" b="0">
                          <a:solidFill>
                            <a:srgbClr val="E2E8F0"/>
                          </a:solidFill>
                        </a:defRPr>
                      </a:pPr>
                      <a:r>
                        <a:t>Treinamento</a:t>
                      </a:r>
                    </a:p>
                  </a:txBody>
                  <a:tcPr>
                    <a:solidFill>
                      <a:srgbClr val="141D30"/>
                    </a:solidFill>
                  </a:tcPr>
                </a:tc>
                <a:tc>
                  <a:txBody>
                    <a:bodyPr/>
                    <a:lstStyle/>
                    <a:p>
                      <a:pPr>
                        <a:defRPr sz="950" b="0">
                          <a:solidFill>
                            <a:srgbClr val="E2E8F0"/>
                          </a:solidFill>
                        </a:defRPr>
                      </a:pPr>
                      <a:r>
                        <a:t>Treinado do zero (Scratch)</a:t>
                      </a:r>
                    </a:p>
                  </a:txBody>
                  <a:tcPr>
                    <a:solidFill>
                      <a:srgbClr val="141D30"/>
                    </a:solidFill>
                  </a:tcPr>
                </a:tc>
                <a:tc>
                  <a:txBody>
                    <a:bodyPr/>
                    <a:lstStyle/>
                    <a:p>
                      <a:pPr>
                        <a:defRPr sz="950" b="0">
                          <a:solidFill>
                            <a:srgbClr val="E2E8F0"/>
                          </a:solidFill>
                        </a:defRPr>
                      </a:pPr>
                      <a:r>
                        <a:t>Fine-Tuning (ImageNet-21k)</a:t>
                      </a:r>
                    </a:p>
                  </a:txBody>
                  <a:tcPr>
                    <a:solidFill>
                      <a:srgbClr val="141D30"/>
                    </a:solidFill>
                  </a:tcPr>
                </a:tc>
              </a:tr>
            </a:tbl>
          </a:graphicData>
        </a:graphic>
      </p:graphicFrame>
      <p:sp>
        <p:nvSpPr>
          <p:cNvPr id="8" name="TextBox 7"/>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9" name="TextBox 8"/>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03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1 • UFCSPA (BRACIS 2023)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03:30 - 05:00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Contexto Clínico: Neoplasias Encefálicas</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Diagnóstico Diferencial em 4 Classes de Ressonância Magnética (MRI)</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Glioma (Classe 0): Neoplasia de células gliais. Altamente infiltrativa, margens difusas e alta malignidade (ex: glioblastoma). Exige intervenção cirúrgica imediata.</a:t>
            </a:r>
          </a:p>
          <a:p>
            <a:pPr>
              <a:spcBef>
                <a:spcPts val="300"/>
              </a:spcBef>
              <a:defRPr sz="1100">
                <a:solidFill>
                  <a:srgbClr val="E2E8F0"/>
                </a:solidFill>
              </a:defRPr>
            </a:pPr>
            <a:r>
              <a:t>• Meningioma (Classe 1): Origina-se nas meninges durais. Tipicamente benigno, circunscrito, de crescimento lento, com sinal de 'cauda dural'.</a:t>
            </a:r>
          </a:p>
          <a:p>
            <a:pPr>
              <a:spcBef>
                <a:spcPts val="300"/>
              </a:spcBef>
              <a:defRPr sz="1100">
                <a:solidFill>
                  <a:srgbClr val="E2E8F0"/>
                </a:solidFill>
              </a:defRPr>
            </a:pPr>
            <a:r>
              <a:t>• No Tumor / Normal (Classe 2): Fatias encefálicas sem evidência de massa expansiva. Essencial para validação de triagem sem falso alarme.</a:t>
            </a:r>
          </a:p>
          <a:p>
            <a:pPr>
              <a:spcBef>
                <a:spcPts val="300"/>
              </a:spcBef>
              <a:defRPr sz="1100">
                <a:solidFill>
                  <a:srgbClr val="E2E8F0"/>
                </a:solidFill>
              </a:defRPr>
            </a:pPr>
            <a:r>
              <a:t>• Pituitary / Adenoma Hipofisário (Classe 3): Lesão na sela túrcica. Causa distúrbios hormonais e compressão do quiasma óptico.</a:t>
            </a:r>
          </a:p>
        </p:txBody>
      </p:sp>
      <p:sp>
        <p:nvSpPr>
          <p:cNvPr id="8" name="Rounded Rectangle 7"/>
          <p:cNvSpPr/>
          <p:nvPr/>
        </p:nvSpPr>
        <p:spPr>
          <a:xfrm>
            <a:off x="6217920" y="1965960"/>
            <a:ext cx="52120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400"/>
              </a:spcBef>
              <a:defRPr sz="1100">
                <a:solidFill>
                  <a:srgbClr val="94A3B8"/>
                </a:solidFill>
              </a:defRPr>
            </a:pPr>
            <a:r>
              <a:t>Autores: Caio dos Santos Felipe, Thatiane Alves Pianoschi Alva, Ana Trindade Winck, Carla Diniz Lopes Becker (UFCSPA).</a:t>
            </a:r>
          </a:p>
          <a:p>
            <a:pPr>
              <a:spcBef>
                <a:spcPts val="400"/>
              </a:spcBef>
              <a:defRPr sz="1100">
                <a:solidFill>
                  <a:srgbClr val="94A3B8"/>
                </a:solidFill>
              </a:defRPr>
            </a:pPr>
            <a:r>
              <a:t>Problema Central: Desenvolver um modelo convolucional leve, com baixo custo computacional e alta explicabilidade visual (Grad-CAM), capaz de rodar em equipamentos hospitalares modestos sem depender de clusters de alta performance.</a:t>
            </a:r>
          </a:p>
          <a:p>
            <a:pPr>
              <a:spcBef>
                <a:spcPts val="400"/>
              </a:spcBef>
              <a:defRPr sz="1100">
                <a:solidFill>
                  <a:srgbClr val="94A3B8"/>
                </a:solidFill>
              </a:defRPr>
            </a:pPr>
            <a:r>
              <a:t>Diferencial Metodológico: Auditoria visual preventiva para expurgar rótulos ruidosos de benchmarks públicos abertos.</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1 • CURADORIA SANITÁRIA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05:00 - 06:30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Auditoria Crítica da Base: Descoberta de Label Noise</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Identificação de Rótulos Corrompidos no Kaggle e Substituição pelo Figshare</a:t>
            </a:r>
          </a:p>
        </p:txBody>
      </p:sp>
      <p:graphicFrame>
        <p:nvGraphicFramePr>
          <p:cNvPr id="7" name="Table 6"/>
          <p:cNvGraphicFramePr>
            <a:graphicFrameLocks noGrp="1"/>
          </p:cNvGraphicFramePr>
          <p:nvPr/>
        </p:nvGraphicFramePr>
        <p:xfrm>
          <a:off x="731520" y="1965960"/>
          <a:ext cx="10698480" cy="4114800"/>
        </p:xfrm>
        <a:graphic>
          <a:graphicData uri="http://schemas.openxmlformats.org/drawingml/2006/table">
            <a:tbl>
              <a:tblPr firstRow="1" bandRow="1">
                <a:tableStyleId>{5C22544A-7EE6-4342-B048-85BDC9FD1C3A}</a:tableStyleId>
              </a:tblPr>
              <a:tblGrid>
                <a:gridCol w="3566160"/>
                <a:gridCol w="3566160"/>
                <a:gridCol w="3566160"/>
              </a:tblGrid>
              <a:tr h="822960">
                <a:tc>
                  <a:txBody>
                    <a:bodyPr/>
                    <a:lstStyle/>
                    <a:p>
                      <a:pPr>
                        <a:defRPr sz="1000" b="1">
                          <a:solidFill>
                            <a:srgbClr val="38BDF8"/>
                          </a:solidFill>
                        </a:defRPr>
                      </a:pPr>
                      <a:r>
                        <a:t>Classe</a:t>
                      </a:r>
                    </a:p>
                  </a:txBody>
                  <a:tcPr>
                    <a:solidFill>
                      <a:srgbClr val="1E293B"/>
                    </a:solidFill>
                  </a:tcPr>
                </a:tc>
                <a:tc>
                  <a:txBody>
                    <a:bodyPr/>
                    <a:lstStyle/>
                    <a:p>
                      <a:pPr>
                        <a:defRPr sz="1000" b="1">
                          <a:solidFill>
                            <a:srgbClr val="38BDF8"/>
                          </a:solidFill>
                        </a:defRPr>
                      </a:pPr>
                      <a:r>
                        <a:t>Amostras</a:t>
                      </a:r>
                    </a:p>
                  </a:txBody>
                  <a:tcPr>
                    <a:solidFill>
                      <a:srgbClr val="1E293B"/>
                    </a:solidFill>
                  </a:tcPr>
                </a:tc>
                <a:tc>
                  <a:txBody>
                    <a:bodyPr/>
                    <a:lstStyle/>
                    <a:p>
                      <a:pPr>
                        <a:defRPr sz="1000" b="1">
                          <a:solidFill>
                            <a:srgbClr val="38BDF8"/>
                          </a:solidFill>
                        </a:defRPr>
                      </a:pPr>
                      <a:r>
                        <a:t>Fração</a:t>
                      </a:r>
                    </a:p>
                  </a:txBody>
                  <a:tcPr>
                    <a:solidFill>
                      <a:srgbClr val="1E293B"/>
                    </a:solidFill>
                  </a:tcPr>
                </a:tc>
              </a:tr>
              <a:tr h="822960">
                <a:tc>
                  <a:txBody>
                    <a:bodyPr/>
                    <a:lstStyle/>
                    <a:p>
                      <a:pPr>
                        <a:defRPr sz="950" b="0">
                          <a:solidFill>
                            <a:srgbClr val="E2E8F0"/>
                          </a:solidFill>
                        </a:defRPr>
                      </a:pPr>
                      <a:r>
                        <a:t>Glioma</a:t>
                      </a:r>
                    </a:p>
                  </a:txBody>
                  <a:tcPr>
                    <a:solidFill>
                      <a:srgbClr val="141D30"/>
                    </a:solidFill>
                  </a:tcPr>
                </a:tc>
                <a:tc>
                  <a:txBody>
                    <a:bodyPr/>
                    <a:lstStyle/>
                    <a:p>
                      <a:pPr>
                        <a:defRPr sz="950" b="0">
                          <a:solidFill>
                            <a:srgbClr val="E2E8F0"/>
                          </a:solidFill>
                        </a:defRPr>
                      </a:pPr>
                      <a:r>
                        <a:t>1.126</a:t>
                      </a:r>
                    </a:p>
                  </a:txBody>
                  <a:tcPr>
                    <a:solidFill>
                      <a:srgbClr val="141D30"/>
                    </a:solidFill>
                  </a:tcPr>
                </a:tc>
                <a:tc>
                  <a:txBody>
                    <a:bodyPr/>
                    <a:lstStyle/>
                    <a:p>
                      <a:pPr>
                        <a:defRPr sz="950" b="0">
                          <a:solidFill>
                            <a:srgbClr val="E2E8F0"/>
                          </a:solidFill>
                        </a:defRPr>
                      </a:pPr>
                      <a:r>
                        <a:t>20,41%</a:t>
                      </a:r>
                    </a:p>
                  </a:txBody>
                  <a:tcPr>
                    <a:solidFill>
                      <a:srgbClr val="141D30"/>
                    </a:solidFill>
                  </a:tcPr>
                </a:tc>
              </a:tr>
              <a:tr h="822960">
                <a:tc>
                  <a:txBody>
                    <a:bodyPr/>
                    <a:lstStyle/>
                    <a:p>
                      <a:pPr>
                        <a:defRPr sz="950" b="0">
                          <a:solidFill>
                            <a:srgbClr val="E2E8F0"/>
                          </a:solidFill>
                        </a:defRPr>
                      </a:pPr>
                      <a:r>
                        <a:t>Meningioma</a:t>
                      </a:r>
                    </a:p>
                  </a:txBody>
                  <a:tcPr>
                    <a:solidFill>
                      <a:srgbClr val="161E31"/>
                    </a:solidFill>
                  </a:tcPr>
                </a:tc>
                <a:tc>
                  <a:txBody>
                    <a:bodyPr/>
                    <a:lstStyle/>
                    <a:p>
                      <a:pPr>
                        <a:defRPr sz="950" b="0">
                          <a:solidFill>
                            <a:srgbClr val="E2E8F0"/>
                          </a:solidFill>
                        </a:defRPr>
                      </a:pPr>
                      <a:r>
                        <a:t>1.339</a:t>
                      </a:r>
                    </a:p>
                  </a:txBody>
                  <a:tcPr>
                    <a:solidFill>
                      <a:srgbClr val="161E31"/>
                    </a:solidFill>
                  </a:tcPr>
                </a:tc>
                <a:tc>
                  <a:txBody>
                    <a:bodyPr/>
                    <a:lstStyle/>
                    <a:p>
                      <a:pPr>
                        <a:defRPr sz="950" b="0">
                          <a:solidFill>
                            <a:srgbClr val="E2E8F0"/>
                          </a:solidFill>
                        </a:defRPr>
                      </a:pPr>
                      <a:r>
                        <a:t>24,27%</a:t>
                      </a:r>
                    </a:p>
                  </a:txBody>
                  <a:tcPr>
                    <a:solidFill>
                      <a:srgbClr val="161E31"/>
                    </a:solidFill>
                  </a:tcPr>
                </a:tc>
              </a:tr>
              <a:tr h="822960">
                <a:tc>
                  <a:txBody>
                    <a:bodyPr/>
                    <a:lstStyle/>
                    <a:p>
                      <a:pPr>
                        <a:defRPr sz="950" b="0">
                          <a:solidFill>
                            <a:srgbClr val="E2E8F0"/>
                          </a:solidFill>
                        </a:defRPr>
                      </a:pPr>
                      <a:r>
                        <a:t>No Tumor</a:t>
                      </a:r>
                    </a:p>
                  </a:txBody>
                  <a:tcPr>
                    <a:solidFill>
                      <a:srgbClr val="141D30"/>
                    </a:solidFill>
                  </a:tcPr>
                </a:tc>
                <a:tc>
                  <a:txBody>
                    <a:bodyPr/>
                    <a:lstStyle/>
                    <a:p>
                      <a:pPr>
                        <a:defRPr sz="950" b="0">
                          <a:solidFill>
                            <a:srgbClr val="E2E8F0"/>
                          </a:solidFill>
                        </a:defRPr>
                      </a:pPr>
                      <a:r>
                        <a:t>1.595</a:t>
                      </a:r>
                    </a:p>
                  </a:txBody>
                  <a:tcPr>
                    <a:solidFill>
                      <a:srgbClr val="141D30"/>
                    </a:solidFill>
                  </a:tcPr>
                </a:tc>
                <a:tc>
                  <a:txBody>
                    <a:bodyPr/>
                    <a:lstStyle/>
                    <a:p>
                      <a:pPr>
                        <a:defRPr sz="950" b="0">
                          <a:solidFill>
                            <a:srgbClr val="E2E8F0"/>
                          </a:solidFill>
                        </a:defRPr>
                      </a:pPr>
                      <a:r>
                        <a:t>28,91%</a:t>
                      </a:r>
                    </a:p>
                  </a:txBody>
                  <a:tcPr>
                    <a:solidFill>
                      <a:srgbClr val="141D30"/>
                    </a:solidFill>
                  </a:tcPr>
                </a:tc>
              </a:tr>
              <a:tr h="822960">
                <a:tc>
                  <a:txBody>
                    <a:bodyPr/>
                    <a:lstStyle/>
                    <a:p>
                      <a:pPr>
                        <a:defRPr sz="950" b="0">
                          <a:solidFill>
                            <a:srgbClr val="E2E8F0"/>
                          </a:solidFill>
                        </a:defRPr>
                      </a:pPr>
                      <a:r>
                        <a:t>Pituitary</a:t>
                      </a:r>
                    </a:p>
                  </a:txBody>
                  <a:tcPr>
                    <a:solidFill>
                      <a:srgbClr val="161E31"/>
                    </a:solidFill>
                  </a:tcPr>
                </a:tc>
                <a:tc>
                  <a:txBody>
                    <a:bodyPr/>
                    <a:lstStyle/>
                    <a:p>
                      <a:pPr>
                        <a:defRPr sz="950" b="0">
                          <a:solidFill>
                            <a:srgbClr val="E2E8F0"/>
                          </a:solidFill>
                        </a:defRPr>
                      </a:pPr>
                      <a:r>
                        <a:t>1.457</a:t>
                      </a:r>
                    </a:p>
                  </a:txBody>
                  <a:tcPr>
                    <a:solidFill>
                      <a:srgbClr val="161E31"/>
                    </a:solidFill>
                  </a:tcPr>
                </a:tc>
                <a:tc>
                  <a:txBody>
                    <a:bodyPr/>
                    <a:lstStyle/>
                    <a:p>
                      <a:pPr>
                        <a:defRPr sz="950" b="0">
                          <a:solidFill>
                            <a:srgbClr val="E2E8F0"/>
                          </a:solidFill>
                        </a:defRPr>
                      </a:pPr>
                      <a:r>
                        <a:t>26,41%</a:t>
                      </a:r>
                    </a:p>
                  </a:txBody>
                  <a:tcPr>
                    <a:solidFill>
                      <a:srgbClr val="161E31"/>
                    </a:solidFill>
                  </a:tcPr>
                </a:tc>
              </a:tr>
            </a:tbl>
          </a:graphicData>
        </a:graphic>
      </p:graphicFrame>
      <p:sp>
        <p:nvSpPr>
          <p:cNvPr id="8" name="TextBox 7"/>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9" name="TextBox 8"/>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1 • ENGENHARIA DE DADOS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06:30 - 07:45</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Pré-Processamento, Ponderação e Anti-Leakage</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Tratamento Numérico dos Tensores e Mitigação do Desbalanceamento</a:t>
            </a:r>
          </a:p>
        </p:txBody>
      </p:sp>
      <p:sp>
        <p:nvSpPr>
          <p:cNvPr id="7" name="TextBox 6"/>
          <p:cNvSpPr txBox="1"/>
          <p:nvPr/>
        </p:nvSpPr>
        <p:spPr>
          <a:xfrm>
            <a:off x="731520" y="1965960"/>
            <a:ext cx="10698480" cy="411480"/>
          </a:xfrm>
          <a:prstGeom prst="rect">
            <a:avLst/>
          </a:prstGeom>
          <a:noFill/>
        </p:spPr>
        <p:txBody>
          <a:bodyPr wrap="square">
            <a:spAutoFit/>
          </a:bodyPr>
          <a:lstStyle/>
          <a:p>
            <a:pPr>
              <a:defRPr sz="1200">
                <a:solidFill>
                  <a:srgbClr val="E2E8F0"/>
                </a:solidFill>
              </a:defRPr>
            </a:pPr>
            <a:r>
              <a:t>Ponderação inversamente proporcional na Sparse Categorical Cross-Entropy para compensar o desbalanceamento sem introduzir ruído sintético: A penalidade por errar um glioma é 40% mais severa do que errar uma imagem sem tumor.</a:t>
            </a:r>
          </a:p>
        </p:txBody>
      </p:sp>
      <p:graphicFrame>
        <p:nvGraphicFramePr>
          <p:cNvPr id="8" name="Table 7"/>
          <p:cNvGraphicFramePr>
            <a:graphicFrameLocks noGrp="1"/>
          </p:cNvGraphicFramePr>
          <p:nvPr/>
        </p:nvGraphicFramePr>
        <p:xfrm>
          <a:off x="731520" y="2377440"/>
          <a:ext cx="10698480" cy="3840480"/>
        </p:xfrm>
        <a:graphic>
          <a:graphicData uri="http://schemas.openxmlformats.org/drawingml/2006/table">
            <a:tbl>
              <a:tblPr firstRow="1" bandRow="1">
                <a:tableStyleId>{5C22544A-7EE6-4342-B048-85BDC9FD1C3A}</a:tableStyleId>
              </a:tblPr>
              <a:tblGrid>
                <a:gridCol w="3566160"/>
                <a:gridCol w="3566160"/>
                <a:gridCol w="3566160"/>
              </a:tblGrid>
              <a:tr h="768096">
                <a:tc>
                  <a:txBody>
                    <a:bodyPr/>
                    <a:lstStyle/>
                    <a:p>
                      <a:pPr>
                        <a:defRPr sz="1000" b="1">
                          <a:solidFill>
                            <a:srgbClr val="38BDF8"/>
                          </a:solidFill>
                        </a:defRPr>
                      </a:pPr>
                      <a:r>
                        <a:t>Classe Diagnóstica</a:t>
                      </a:r>
                    </a:p>
                  </a:txBody>
                  <a:tcPr>
                    <a:solidFill>
                      <a:srgbClr val="1E293B"/>
                    </a:solidFill>
                  </a:tcPr>
                </a:tc>
                <a:tc>
                  <a:txBody>
                    <a:bodyPr/>
                    <a:lstStyle/>
                    <a:p>
                      <a:pPr>
                        <a:defRPr sz="1000" b="1">
                          <a:solidFill>
                            <a:srgbClr val="38BDF8"/>
                          </a:solidFill>
                        </a:defRPr>
                      </a:pPr>
                      <a:r>
                        <a:t>Fração Original</a:t>
                      </a:r>
                    </a:p>
                  </a:txBody>
                  <a:tcPr>
                    <a:solidFill>
                      <a:srgbClr val="1E293B"/>
                    </a:solidFill>
                  </a:tcPr>
                </a:tc>
                <a:tc>
                  <a:txBody>
                    <a:bodyPr/>
                    <a:lstStyle/>
                    <a:p>
                      <a:pPr>
                        <a:defRPr sz="1000" b="1">
                          <a:solidFill>
                            <a:srgbClr val="38BDF8"/>
                          </a:solidFill>
                        </a:defRPr>
                      </a:pPr>
                      <a:r>
                        <a:t>Peso Injetado ($w_c$)</a:t>
                      </a:r>
                    </a:p>
                  </a:txBody>
                  <a:tcPr>
                    <a:solidFill>
                      <a:srgbClr val="1E293B"/>
                    </a:solidFill>
                  </a:tcPr>
                </a:tc>
              </a:tr>
              <a:tr h="768096">
                <a:tc>
                  <a:txBody>
                    <a:bodyPr/>
                    <a:lstStyle/>
                    <a:p>
                      <a:pPr>
                        <a:defRPr sz="950" b="0">
                          <a:solidFill>
                            <a:srgbClr val="E2E8F0"/>
                          </a:solidFill>
                        </a:defRPr>
                      </a:pPr>
                      <a:r>
                        <a:t>Glioma (minoritária)</a:t>
                      </a:r>
                    </a:p>
                  </a:txBody>
                  <a:tcPr>
                    <a:solidFill>
                      <a:srgbClr val="141D30"/>
                    </a:solidFill>
                  </a:tcPr>
                </a:tc>
                <a:tc>
                  <a:txBody>
                    <a:bodyPr/>
                    <a:lstStyle/>
                    <a:p>
                      <a:pPr>
                        <a:defRPr sz="950" b="0">
                          <a:solidFill>
                            <a:srgbClr val="E2E8F0"/>
                          </a:solidFill>
                        </a:defRPr>
                      </a:pPr>
                      <a:r>
                        <a:t>20,41%</a:t>
                      </a:r>
                    </a:p>
                  </a:txBody>
                  <a:tcPr>
                    <a:solidFill>
                      <a:srgbClr val="141D30"/>
                    </a:solidFill>
                  </a:tcPr>
                </a:tc>
                <a:tc>
                  <a:txBody>
                    <a:bodyPr/>
                    <a:lstStyle/>
                    <a:p>
                      <a:pPr>
                        <a:defRPr sz="950" b="0">
                          <a:solidFill>
                            <a:srgbClr val="E2E8F0"/>
                          </a:solidFill>
                        </a:defRPr>
                      </a:pPr>
                      <a:r>
                        <a:t>1.21</a:t>
                      </a:r>
                    </a:p>
                  </a:txBody>
                  <a:tcPr>
                    <a:solidFill>
                      <a:srgbClr val="141D30"/>
                    </a:solidFill>
                  </a:tcPr>
                </a:tc>
              </a:tr>
              <a:tr h="768096">
                <a:tc>
                  <a:txBody>
                    <a:bodyPr/>
                    <a:lstStyle/>
                    <a:p>
                      <a:pPr>
                        <a:defRPr sz="950" b="0">
                          <a:solidFill>
                            <a:srgbClr val="E2E8F0"/>
                          </a:solidFill>
                        </a:defRPr>
                      </a:pPr>
                      <a:r>
                        <a:t>Meningioma</a:t>
                      </a:r>
                    </a:p>
                  </a:txBody>
                  <a:tcPr>
                    <a:solidFill>
                      <a:srgbClr val="161E31"/>
                    </a:solidFill>
                  </a:tcPr>
                </a:tc>
                <a:tc>
                  <a:txBody>
                    <a:bodyPr/>
                    <a:lstStyle/>
                    <a:p>
                      <a:pPr>
                        <a:defRPr sz="950" b="0">
                          <a:solidFill>
                            <a:srgbClr val="E2E8F0"/>
                          </a:solidFill>
                        </a:defRPr>
                      </a:pPr>
                      <a:r>
                        <a:t>24,27%</a:t>
                      </a:r>
                    </a:p>
                  </a:txBody>
                  <a:tcPr>
                    <a:solidFill>
                      <a:srgbClr val="161E31"/>
                    </a:solidFill>
                  </a:tcPr>
                </a:tc>
                <a:tc>
                  <a:txBody>
                    <a:bodyPr/>
                    <a:lstStyle/>
                    <a:p>
                      <a:pPr>
                        <a:defRPr sz="950" b="0">
                          <a:solidFill>
                            <a:srgbClr val="E2E8F0"/>
                          </a:solidFill>
                        </a:defRPr>
                      </a:pPr>
                      <a:r>
                        <a:t>1.03</a:t>
                      </a:r>
                    </a:p>
                  </a:txBody>
                  <a:tcPr>
                    <a:solidFill>
                      <a:srgbClr val="161E31"/>
                    </a:solidFill>
                  </a:tcPr>
                </a:tc>
              </a:tr>
              <a:tr h="768096">
                <a:tc>
                  <a:txBody>
                    <a:bodyPr/>
                    <a:lstStyle/>
                    <a:p>
                      <a:pPr>
                        <a:defRPr sz="950" b="0">
                          <a:solidFill>
                            <a:srgbClr val="E2E8F0"/>
                          </a:solidFill>
                        </a:defRPr>
                      </a:pPr>
                      <a:r>
                        <a:t>Pituitary</a:t>
                      </a:r>
                    </a:p>
                  </a:txBody>
                  <a:tcPr>
                    <a:solidFill>
                      <a:srgbClr val="141D30"/>
                    </a:solidFill>
                  </a:tcPr>
                </a:tc>
                <a:tc>
                  <a:txBody>
                    <a:bodyPr/>
                    <a:lstStyle/>
                    <a:p>
                      <a:pPr>
                        <a:defRPr sz="950" b="0">
                          <a:solidFill>
                            <a:srgbClr val="E2E8F0"/>
                          </a:solidFill>
                        </a:defRPr>
                      </a:pPr>
                      <a:r>
                        <a:t>26,41%</a:t>
                      </a:r>
                    </a:p>
                  </a:txBody>
                  <a:tcPr>
                    <a:solidFill>
                      <a:srgbClr val="141D30"/>
                    </a:solidFill>
                  </a:tcPr>
                </a:tc>
                <a:tc>
                  <a:txBody>
                    <a:bodyPr/>
                    <a:lstStyle/>
                    <a:p>
                      <a:pPr>
                        <a:defRPr sz="950" b="0">
                          <a:solidFill>
                            <a:srgbClr val="E2E8F0"/>
                          </a:solidFill>
                        </a:defRPr>
                      </a:pPr>
                      <a:r>
                        <a:t>0.94</a:t>
                      </a:r>
                    </a:p>
                  </a:txBody>
                  <a:tcPr>
                    <a:solidFill>
                      <a:srgbClr val="141D30"/>
                    </a:solidFill>
                  </a:tcPr>
                </a:tc>
              </a:tr>
              <a:tr h="768096">
                <a:tc>
                  <a:txBody>
                    <a:bodyPr/>
                    <a:lstStyle/>
                    <a:p>
                      <a:pPr>
                        <a:defRPr sz="950" b="0">
                          <a:solidFill>
                            <a:srgbClr val="E2E8F0"/>
                          </a:solidFill>
                        </a:defRPr>
                      </a:pPr>
                      <a:r>
                        <a:t>No Tumor (majoritária)</a:t>
                      </a:r>
                    </a:p>
                  </a:txBody>
                  <a:tcPr>
                    <a:solidFill>
                      <a:srgbClr val="161E31"/>
                    </a:solidFill>
                  </a:tcPr>
                </a:tc>
                <a:tc>
                  <a:txBody>
                    <a:bodyPr/>
                    <a:lstStyle/>
                    <a:p>
                      <a:pPr>
                        <a:defRPr sz="950" b="0">
                          <a:solidFill>
                            <a:srgbClr val="E2E8F0"/>
                          </a:solidFill>
                        </a:defRPr>
                      </a:pPr>
                      <a:r>
                        <a:t>28,91%</a:t>
                      </a:r>
                    </a:p>
                  </a:txBody>
                  <a:tcPr>
                    <a:solidFill>
                      <a:srgbClr val="161E31"/>
                    </a:solidFill>
                  </a:tcPr>
                </a:tc>
                <a:tc>
                  <a:txBody>
                    <a:bodyPr/>
                    <a:lstStyle/>
                    <a:p>
                      <a:pPr>
                        <a:defRPr sz="950" b="0">
                          <a:solidFill>
                            <a:srgbClr val="E2E8F0"/>
                          </a:solidFill>
                        </a:defRPr>
                      </a:pPr>
                      <a:r>
                        <a:t>0.86</a:t>
                      </a:r>
                    </a:p>
                  </a:txBody>
                  <a:tcPr>
                    <a:solidFill>
                      <a:srgbClr val="161E31"/>
                    </a:solidFill>
                  </a:tcPr>
                </a:tc>
              </a:tr>
            </a:tbl>
          </a:graphicData>
        </a:graphic>
      </p:graphicFrame>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1 • ARQUITETURA PROPOSTA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07:45 - 09:00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Rede Neural Convolucional Inspirada na AlexNet</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Design Modular com Estratégia de Regularização Progressiva</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p:txBody>
      </p:sp>
      <p:sp>
        <p:nvSpPr>
          <p:cNvPr id="8" name="Rounded Rectangle 7"/>
          <p:cNvSpPr/>
          <p:nvPr/>
        </p:nvSpPr>
        <p:spPr>
          <a:xfrm>
            <a:off x="6217920" y="1965960"/>
            <a:ext cx="52120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Filtros Convolucionais Hierárquicos ($16 \to 32 \to 64$): Extração sequencial de bordas primitivas, texturas encefálicas e padrões tumorais complexos.</a:t>
            </a:r>
          </a:p>
          <a:p>
            <a:pPr>
              <a:spcBef>
                <a:spcPts val="300"/>
              </a:spcBef>
              <a:defRPr sz="1100">
                <a:solidFill>
                  <a:srgbClr val="E2E8F0"/>
                </a:solidFill>
              </a:defRPr>
            </a:pPr>
            <a:r>
              <a:t>• Dropout Escalonado ($20\% \to 25\% \to 30\%$): Descarte estocástico baixo nas camadas iniciais para reter morfologia primária; descarte severo nas camadas profundas para impedir memorização.</a:t>
            </a:r>
          </a:p>
          <a:p>
            <a:pPr>
              <a:spcBef>
                <a:spcPts val="300"/>
              </a:spcBef>
              <a:defRPr sz="1100">
                <a:solidFill>
                  <a:srgbClr val="E2E8F0"/>
                </a:solidFill>
              </a:defRPr>
            </a:pPr>
            <a:r>
              <a:t>• Penalização por Decaimento $L_2$ (Weight Decay): Restringe a magnitude dos pesos sinápticos na camada densa de 32 neurônios.</a:t>
            </a:r>
          </a:p>
          <a:p>
            <a:pPr>
              <a:spcBef>
                <a:spcPts val="300"/>
              </a:spcBef>
              <a:defRPr sz="1100">
                <a:solidFill>
                  <a:srgbClr val="E2E8F0"/>
                </a:solidFill>
              </a:defRPr>
            </a:pPr>
            <a:r>
              <a:t>• Parcimônia de Parâmetros: Modelo leve o suficiente para rodar inferência em tempo real sem aceleradores dedicados.</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1 • PROTOCOLO EXPERIMENTAL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09:00 - 10:15</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Pipeline de Treinamento e Callbacks Inteligentes</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Validação Cruzada 5-Fold e Otimização Adaptativa de Hiperparâmetros</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Base de treino (5.531 amostras) dividida em 5 dobras balanceadas disjuntas.</a:t>
            </a:r>
          </a:p>
          <a:p>
            <a:pPr>
              <a:spcBef>
                <a:spcPts val="300"/>
              </a:spcBef>
              <a:defRPr sz="1100">
                <a:solidFill>
                  <a:srgbClr val="E2E8F0"/>
                </a:solidFill>
              </a:defRPr>
            </a:pPr>
            <a:r>
              <a:t>• A cada rodada: 4 dobras (80%) para calibrar gradientes e 1 dobra (20%) para validação interna.</a:t>
            </a:r>
          </a:p>
          <a:p>
            <a:pPr>
              <a:spcBef>
                <a:spcPts val="300"/>
              </a:spcBef>
              <a:defRPr sz="1100">
                <a:solidFill>
                  <a:srgbClr val="E2E8F0"/>
                </a:solidFill>
              </a:defRPr>
            </a:pPr>
            <a:r>
              <a:t>• Resultados de convergência representam a média estatística das 5 dobras, garantindo robustez experimental.</a:t>
            </a:r>
          </a:p>
          <a:p>
            <a:pPr>
              <a:spcBef>
                <a:spcPts val="300"/>
              </a:spcBef>
              <a:defRPr sz="1100">
                <a:solidFill>
                  <a:srgbClr val="E2E8F0"/>
                </a:solidFill>
              </a:defRPr>
            </a:pPr>
            <a:r>
              <a:t>• Hiperparâmetros: Otimizador Adam ($\beta_1=0.9, \beta_2=0.999$), batch size de 32 imagens, teto de 60 épocas por dobra.</a:t>
            </a:r>
          </a:p>
        </p:txBody>
      </p:sp>
      <p:sp>
        <p:nvSpPr>
          <p:cNvPr id="8" name="Rounded Rectangle 7"/>
          <p:cNvSpPr/>
          <p:nvPr/>
        </p:nvSpPr>
        <p:spPr>
          <a:xfrm>
            <a:off x="6217920" y="1965960"/>
            <a:ext cx="52120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Early Stopping (Paciência = 18 épocas): Monitora a perda na validação; interrompe o processo preventivamente se não houver declínio por 18 épocas, evitando superajuste.</a:t>
            </a:r>
          </a:p>
          <a:p>
            <a:pPr>
              <a:spcBef>
                <a:spcPts val="300"/>
              </a:spcBef>
              <a:defRPr sz="1100">
                <a:solidFill>
                  <a:srgbClr val="E2E8F0"/>
                </a:solidFill>
              </a:defRPr>
            </a:pPr>
            <a:r>
              <a:t>• ReduceLROnPlateau (Fator 0.2): Se a perda estagnar por 5 épocas, contrai a taxa de aprendizado em 80% ($\text{LR} \leftarrow \text{LR} \times 0.2$), refinando o passo nos vales da função de perda.</a:t>
            </a:r>
          </a:p>
          <a:p>
            <a:pPr>
              <a:spcBef>
                <a:spcPts val="300"/>
              </a:spcBef>
              <a:defRPr sz="1100">
                <a:solidFill>
                  <a:srgbClr val="E2E8F0"/>
                </a:solidFill>
              </a:defRPr>
            </a:pPr>
            <a:r>
              <a:t>• Model Checkpoint: Serializa no disco exclusivamente a matriz de pesos sinápticos que atinge o mínimo global de perda de validação.</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1 • RESULTADOS EXPERIMENTAIS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10:15 - 11:30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Resultados Quantitativos: 99% de Acurácia Global</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Relatório no Teste Cego com 1.311 Imagens e Zero Falso-Negativo em Glioma</a:t>
            </a:r>
          </a:p>
        </p:txBody>
      </p:sp>
      <p:graphicFrame>
        <p:nvGraphicFramePr>
          <p:cNvPr id="7" name="Table 6"/>
          <p:cNvGraphicFramePr>
            <a:graphicFrameLocks noGrp="1"/>
          </p:cNvGraphicFramePr>
          <p:nvPr/>
        </p:nvGraphicFramePr>
        <p:xfrm>
          <a:off x="731520" y="1965960"/>
          <a:ext cx="10698480" cy="411480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514350">
                <a:tc>
                  <a:txBody>
                    <a:bodyPr/>
                    <a:lstStyle/>
                    <a:p>
                      <a:pPr>
                        <a:defRPr sz="1000" b="1">
                          <a:solidFill>
                            <a:srgbClr val="38BDF8"/>
                          </a:solidFill>
                        </a:defRPr>
                      </a:pPr>
                      <a:r>
                        <a:t>Classe Diagnóstica</a:t>
                      </a:r>
                    </a:p>
                  </a:txBody>
                  <a:tcPr>
                    <a:solidFill>
                      <a:srgbClr val="1E293B"/>
                    </a:solidFill>
                  </a:tcPr>
                </a:tc>
                <a:tc>
                  <a:txBody>
                    <a:bodyPr/>
                    <a:lstStyle/>
                    <a:p>
                      <a:pPr>
                        <a:defRPr sz="1000" b="1">
                          <a:solidFill>
                            <a:srgbClr val="38BDF8"/>
                          </a:solidFill>
                        </a:defRPr>
                      </a:pPr>
                      <a:r>
                        <a:t>Precisão</a:t>
                      </a:r>
                    </a:p>
                  </a:txBody>
                  <a:tcPr>
                    <a:solidFill>
                      <a:srgbClr val="1E293B"/>
                    </a:solidFill>
                  </a:tcPr>
                </a:tc>
                <a:tc>
                  <a:txBody>
                    <a:bodyPr/>
                    <a:lstStyle/>
                    <a:p>
                      <a:pPr>
                        <a:defRPr sz="1000" b="1">
                          <a:solidFill>
                            <a:srgbClr val="38BDF8"/>
                          </a:solidFill>
                        </a:defRPr>
                      </a:pPr>
                      <a:r>
                        <a:t>Revocação</a:t>
                      </a:r>
                    </a:p>
                  </a:txBody>
                  <a:tcPr>
                    <a:solidFill>
                      <a:srgbClr val="1E293B"/>
                    </a:solidFill>
                  </a:tcPr>
                </a:tc>
                <a:tc>
                  <a:txBody>
                    <a:bodyPr/>
                    <a:lstStyle/>
                    <a:p>
                      <a:pPr>
                        <a:defRPr sz="1000" b="1">
                          <a:solidFill>
                            <a:srgbClr val="38BDF8"/>
                          </a:solidFill>
                        </a:defRPr>
                      </a:pPr>
                      <a:r>
                        <a:t>F1-Score</a:t>
                      </a:r>
                    </a:p>
                  </a:txBody>
                  <a:tcPr>
                    <a:solidFill>
                      <a:srgbClr val="1E293B"/>
                    </a:solidFill>
                  </a:tcPr>
                </a:tc>
                <a:tc>
                  <a:txBody>
                    <a:bodyPr/>
                    <a:lstStyle/>
                    <a:p>
                      <a:pPr>
                        <a:defRPr sz="1000" b="1">
                          <a:solidFill>
                            <a:srgbClr val="38BDF8"/>
                          </a:solidFill>
                        </a:defRPr>
                      </a:pPr>
                      <a:r>
                        <a:t>Suporte</a:t>
                      </a:r>
                    </a:p>
                  </a:txBody>
                  <a:tcPr>
                    <a:solidFill>
                      <a:srgbClr val="1E293B"/>
                    </a:solidFill>
                  </a:tcPr>
                </a:tc>
              </a:tr>
              <a:tr h="514350">
                <a:tc>
                  <a:txBody>
                    <a:bodyPr/>
                    <a:lstStyle/>
                    <a:p>
                      <a:pPr>
                        <a:defRPr sz="950" b="0">
                          <a:solidFill>
                            <a:srgbClr val="E2E8F0"/>
                          </a:solidFill>
                        </a:defRPr>
                      </a:pPr>
                      <a:r>
                        <a:t>Glioma (Letal)</a:t>
                      </a:r>
                    </a:p>
                  </a:txBody>
                  <a:tcPr>
                    <a:solidFill>
                      <a:srgbClr val="141D30"/>
                    </a:solidFill>
                  </a:tcPr>
                </a:tc>
                <a:tc>
                  <a:txBody>
                    <a:bodyPr/>
                    <a:lstStyle/>
                    <a:p>
                      <a:pPr>
                        <a:defRPr sz="950" b="0">
                          <a:solidFill>
                            <a:srgbClr val="E2E8F0"/>
                          </a:solidFill>
                        </a:defRPr>
                      </a:pPr>
                      <a:r>
                        <a:t>1,00 (100%)</a:t>
                      </a:r>
                    </a:p>
                  </a:txBody>
                  <a:tcPr>
                    <a:solidFill>
                      <a:srgbClr val="141D30"/>
                    </a:solidFill>
                  </a:tcPr>
                </a:tc>
                <a:tc>
                  <a:txBody>
                    <a:bodyPr/>
                    <a:lstStyle/>
                    <a:p>
                      <a:pPr>
                        <a:defRPr sz="950" b="0">
                          <a:solidFill>
                            <a:srgbClr val="E2E8F0"/>
                          </a:solidFill>
                        </a:defRPr>
                      </a:pPr>
                      <a:r>
                        <a:t>1,00 (100%)</a:t>
                      </a:r>
                    </a:p>
                  </a:txBody>
                  <a:tcPr>
                    <a:solidFill>
                      <a:srgbClr val="141D30"/>
                    </a:solidFill>
                  </a:tcPr>
                </a:tc>
                <a:tc>
                  <a:txBody>
                    <a:bodyPr/>
                    <a:lstStyle/>
                    <a:p>
                      <a:pPr>
                        <a:defRPr sz="950" b="0">
                          <a:solidFill>
                            <a:srgbClr val="E2E8F0"/>
                          </a:solidFill>
                        </a:defRPr>
                      </a:pPr>
                      <a:r>
                        <a:t>1,00</a:t>
                      </a:r>
                    </a:p>
                  </a:txBody>
                  <a:tcPr>
                    <a:solidFill>
                      <a:srgbClr val="141D30"/>
                    </a:solidFill>
                  </a:tcPr>
                </a:tc>
                <a:tc>
                  <a:txBody>
                    <a:bodyPr/>
                    <a:lstStyle/>
                    <a:p>
                      <a:pPr>
                        <a:defRPr sz="950" b="0">
                          <a:solidFill>
                            <a:srgbClr val="E2E8F0"/>
                          </a:solidFill>
                        </a:defRPr>
                      </a:pPr>
                      <a:r>
                        <a:t>286</a:t>
                      </a:r>
                    </a:p>
                  </a:txBody>
                  <a:tcPr>
                    <a:solidFill>
                      <a:srgbClr val="141D30"/>
                    </a:solidFill>
                  </a:tcPr>
                </a:tc>
              </a:tr>
              <a:tr h="514350">
                <a:tc>
                  <a:txBody>
                    <a:bodyPr/>
                    <a:lstStyle/>
                    <a:p>
                      <a:pPr>
                        <a:defRPr sz="950" b="0">
                          <a:solidFill>
                            <a:srgbClr val="E2E8F0"/>
                          </a:solidFill>
                        </a:defRPr>
                      </a:pPr>
                      <a:r>
                        <a:t>Meningioma</a:t>
                      </a:r>
                    </a:p>
                  </a:txBody>
                  <a:tcPr>
                    <a:solidFill>
                      <a:srgbClr val="161E31"/>
                    </a:solidFill>
                  </a:tcPr>
                </a:tc>
                <a:tc>
                  <a:txBody>
                    <a:bodyPr/>
                    <a:lstStyle/>
                    <a:p>
                      <a:pPr>
                        <a:defRPr sz="950" b="0">
                          <a:solidFill>
                            <a:srgbClr val="E2E8F0"/>
                          </a:solidFill>
                        </a:defRPr>
                      </a:pPr>
                      <a:r>
                        <a:t>0,98</a:t>
                      </a:r>
                    </a:p>
                  </a:txBody>
                  <a:tcPr>
                    <a:solidFill>
                      <a:srgbClr val="161E31"/>
                    </a:solidFill>
                  </a:tcPr>
                </a:tc>
                <a:tc>
                  <a:txBody>
                    <a:bodyPr/>
                    <a:lstStyle/>
                    <a:p>
                      <a:pPr>
                        <a:defRPr sz="950" b="0">
                          <a:solidFill>
                            <a:srgbClr val="E2E8F0"/>
                          </a:solidFill>
                        </a:defRPr>
                      </a:pPr>
                      <a:r>
                        <a:t>0,97</a:t>
                      </a:r>
                    </a:p>
                  </a:txBody>
                  <a:tcPr>
                    <a:solidFill>
                      <a:srgbClr val="161E31"/>
                    </a:solidFill>
                  </a:tcPr>
                </a:tc>
                <a:tc>
                  <a:txBody>
                    <a:bodyPr/>
                    <a:lstStyle/>
                    <a:p>
                      <a:pPr>
                        <a:defRPr sz="950" b="0">
                          <a:solidFill>
                            <a:srgbClr val="E2E8F0"/>
                          </a:solidFill>
                        </a:defRPr>
                      </a:pPr>
                      <a:r>
                        <a:t>0,98</a:t>
                      </a:r>
                    </a:p>
                  </a:txBody>
                  <a:tcPr>
                    <a:solidFill>
                      <a:srgbClr val="161E31"/>
                    </a:solidFill>
                  </a:tcPr>
                </a:tc>
                <a:tc>
                  <a:txBody>
                    <a:bodyPr/>
                    <a:lstStyle/>
                    <a:p>
                      <a:pPr>
                        <a:defRPr sz="950" b="0">
                          <a:solidFill>
                            <a:srgbClr val="E2E8F0"/>
                          </a:solidFill>
                        </a:defRPr>
                      </a:pPr>
                      <a:r>
                        <a:t>306</a:t>
                      </a:r>
                    </a:p>
                  </a:txBody>
                  <a:tcPr>
                    <a:solidFill>
                      <a:srgbClr val="161E31"/>
                    </a:solidFill>
                  </a:tcPr>
                </a:tc>
              </a:tr>
              <a:tr h="514350">
                <a:tc>
                  <a:txBody>
                    <a:bodyPr/>
                    <a:lstStyle/>
                    <a:p>
                      <a:pPr>
                        <a:defRPr sz="950" b="0">
                          <a:solidFill>
                            <a:srgbClr val="E2E8F0"/>
                          </a:solidFill>
                        </a:defRPr>
                      </a:pPr>
                      <a:r>
                        <a:t>No Tumor (Normal)</a:t>
                      </a:r>
                    </a:p>
                  </a:txBody>
                  <a:tcPr>
                    <a:solidFill>
                      <a:srgbClr val="141D30"/>
                    </a:solidFill>
                  </a:tcPr>
                </a:tc>
                <a:tc>
                  <a:txBody>
                    <a:bodyPr/>
                    <a:lstStyle/>
                    <a:p>
                      <a:pPr>
                        <a:defRPr sz="950" b="0">
                          <a:solidFill>
                            <a:srgbClr val="E2E8F0"/>
                          </a:solidFill>
                        </a:defRPr>
                      </a:pPr>
                      <a:r>
                        <a:t>0,99</a:t>
                      </a:r>
                    </a:p>
                  </a:txBody>
                  <a:tcPr>
                    <a:solidFill>
                      <a:srgbClr val="141D30"/>
                    </a:solidFill>
                  </a:tcPr>
                </a:tc>
                <a:tc>
                  <a:txBody>
                    <a:bodyPr/>
                    <a:lstStyle/>
                    <a:p>
                      <a:pPr>
                        <a:defRPr sz="950" b="0">
                          <a:solidFill>
                            <a:srgbClr val="E2E8F0"/>
                          </a:solidFill>
                        </a:defRPr>
                      </a:pPr>
                      <a:r>
                        <a:t>1,00</a:t>
                      </a:r>
                    </a:p>
                  </a:txBody>
                  <a:tcPr>
                    <a:solidFill>
                      <a:srgbClr val="141D30"/>
                    </a:solidFill>
                  </a:tcPr>
                </a:tc>
                <a:tc>
                  <a:txBody>
                    <a:bodyPr/>
                    <a:lstStyle/>
                    <a:p>
                      <a:pPr>
                        <a:defRPr sz="950" b="0">
                          <a:solidFill>
                            <a:srgbClr val="E2E8F0"/>
                          </a:solidFill>
                        </a:defRPr>
                      </a:pPr>
                      <a:r>
                        <a:t>0,99</a:t>
                      </a:r>
                    </a:p>
                  </a:txBody>
                  <a:tcPr>
                    <a:solidFill>
                      <a:srgbClr val="141D30"/>
                    </a:solidFill>
                  </a:tcPr>
                </a:tc>
                <a:tc>
                  <a:txBody>
                    <a:bodyPr/>
                    <a:lstStyle/>
                    <a:p>
                      <a:pPr>
                        <a:defRPr sz="950" b="0">
                          <a:solidFill>
                            <a:srgbClr val="E2E8F0"/>
                          </a:solidFill>
                        </a:defRPr>
                      </a:pPr>
                      <a:r>
                        <a:t>405</a:t>
                      </a:r>
                    </a:p>
                  </a:txBody>
                  <a:tcPr>
                    <a:solidFill>
                      <a:srgbClr val="141D30"/>
                    </a:solidFill>
                  </a:tcPr>
                </a:tc>
              </a:tr>
              <a:tr h="514350">
                <a:tc>
                  <a:txBody>
                    <a:bodyPr/>
                    <a:lstStyle/>
                    <a:p>
                      <a:pPr>
                        <a:defRPr sz="950" b="0">
                          <a:solidFill>
                            <a:srgbClr val="E2E8F0"/>
                          </a:solidFill>
                        </a:defRPr>
                      </a:pPr>
                      <a:r>
                        <a:t>Pituitary (Hipófise)</a:t>
                      </a:r>
                    </a:p>
                  </a:txBody>
                  <a:tcPr>
                    <a:solidFill>
                      <a:srgbClr val="161E31"/>
                    </a:solidFill>
                  </a:tcPr>
                </a:tc>
                <a:tc>
                  <a:txBody>
                    <a:bodyPr/>
                    <a:lstStyle/>
                    <a:p>
                      <a:pPr>
                        <a:defRPr sz="950" b="0">
                          <a:solidFill>
                            <a:srgbClr val="E2E8F0"/>
                          </a:solidFill>
                        </a:defRPr>
                      </a:pPr>
                      <a:r>
                        <a:t>0,99</a:t>
                      </a:r>
                    </a:p>
                  </a:txBody>
                  <a:tcPr>
                    <a:solidFill>
                      <a:srgbClr val="161E31"/>
                    </a:solidFill>
                  </a:tcPr>
                </a:tc>
                <a:tc>
                  <a:txBody>
                    <a:bodyPr/>
                    <a:lstStyle/>
                    <a:p>
                      <a:pPr>
                        <a:defRPr sz="950" b="0">
                          <a:solidFill>
                            <a:srgbClr val="E2E8F0"/>
                          </a:solidFill>
                        </a:defRPr>
                      </a:pPr>
                      <a:r>
                        <a:t>0,99</a:t>
                      </a:r>
                    </a:p>
                  </a:txBody>
                  <a:tcPr>
                    <a:solidFill>
                      <a:srgbClr val="161E31"/>
                    </a:solidFill>
                  </a:tcPr>
                </a:tc>
                <a:tc>
                  <a:txBody>
                    <a:bodyPr/>
                    <a:lstStyle/>
                    <a:p>
                      <a:pPr>
                        <a:defRPr sz="950" b="0">
                          <a:solidFill>
                            <a:srgbClr val="E2E8F0"/>
                          </a:solidFill>
                        </a:defRPr>
                      </a:pPr>
                      <a:r>
                        <a:t>0,99</a:t>
                      </a:r>
                    </a:p>
                  </a:txBody>
                  <a:tcPr>
                    <a:solidFill>
                      <a:srgbClr val="161E31"/>
                    </a:solidFill>
                  </a:tcPr>
                </a:tc>
                <a:tc>
                  <a:txBody>
                    <a:bodyPr/>
                    <a:lstStyle/>
                    <a:p>
                      <a:pPr>
                        <a:defRPr sz="950" b="0">
                          <a:solidFill>
                            <a:srgbClr val="E2E8F0"/>
                          </a:solidFill>
                        </a:defRPr>
                      </a:pPr>
                      <a:r>
                        <a:t>300</a:t>
                      </a:r>
                    </a:p>
                  </a:txBody>
                  <a:tcPr>
                    <a:solidFill>
                      <a:srgbClr val="161E31"/>
                    </a:solidFill>
                  </a:tcPr>
                </a:tc>
              </a:tr>
              <a:tr h="514350">
                <a:tc>
                  <a:txBody>
                    <a:bodyPr/>
                    <a:lstStyle/>
                    <a:p>
                      <a:pPr>
                        <a:defRPr sz="950" b="0">
                          <a:solidFill>
                            <a:srgbClr val="E2E8F0"/>
                          </a:solidFill>
                        </a:defRPr>
                      </a:pPr>
                      <a:r>
                        <a:t>Acurácia Global</a:t>
                      </a:r>
                    </a:p>
                  </a:txBody>
                  <a:tcPr>
                    <a:solidFill>
                      <a:srgbClr val="141D30"/>
                    </a:solidFill>
                  </a:tcPr>
                </a:tc>
                <a:tc>
                  <a:txBody>
                    <a:bodyPr/>
                    <a:lstStyle/>
                    <a:p>
                      <a:pPr>
                        <a:defRPr sz="950" b="0">
                          <a:solidFill>
                            <a:srgbClr val="E2E8F0"/>
                          </a:solidFill>
                        </a:defRPr>
                      </a:pPr>
                      <a:r>
                        <a:t>Consolidada no Teste</a:t>
                      </a:r>
                    </a:p>
                  </a:txBody>
                  <a:tcPr>
                    <a:solidFill>
                      <a:srgbClr val="141D30"/>
                    </a:solidFill>
                  </a:tcPr>
                </a:tc>
                <a:tc>
                  <a:txBody>
                    <a:bodyPr/>
                    <a:lstStyle/>
                    <a:p>
                      <a:pPr>
                        <a:defRPr sz="950" b="0">
                          <a:solidFill>
                            <a:srgbClr val="E2E8F0"/>
                          </a:solidFill>
                        </a:defRPr>
                      </a:pPr>
                      <a:r>
                        <a:t>0,99 (99,0%)</a:t>
                      </a:r>
                    </a:p>
                  </a:txBody>
                  <a:tcPr>
                    <a:solidFill>
                      <a:srgbClr val="141D30"/>
                    </a:solidFill>
                  </a:tcPr>
                </a:tc>
                <a:tc>
                  <a:txBody>
                    <a:bodyPr/>
                    <a:lstStyle/>
                    <a:p>
                      <a:pPr>
                        <a:defRPr sz="950" b="0">
                          <a:solidFill>
                            <a:srgbClr val="E2E8F0"/>
                          </a:solidFill>
                        </a:defRPr>
                      </a:pPr>
                      <a:r>
                        <a:t>1.311</a:t>
                      </a:r>
                    </a:p>
                  </a:txBody>
                  <a:tcPr>
                    <a:solidFill>
                      <a:srgbClr val="141D30"/>
                    </a:solidFill>
                  </a:tcPr>
                </a:tc>
                <a:tc>
                  <a:txBody>
                    <a:bodyPr/>
                    <a:lstStyle/>
                    <a:p/>
                  </a:txBody>
                  <a:tcPr/>
                </a:tc>
              </a:tr>
              <a:tr h="514350">
                <a:tc>
                  <a:txBody>
                    <a:bodyPr/>
                    <a:lstStyle/>
                    <a:p>
                      <a:pPr>
                        <a:defRPr sz="950" b="0">
                          <a:solidFill>
                            <a:srgbClr val="E2E8F0"/>
                          </a:solidFill>
                        </a:defRPr>
                      </a:pPr>
                      <a:r>
                        <a:t>Média Macro</a:t>
                      </a:r>
                    </a:p>
                  </a:txBody>
                  <a:tcPr>
                    <a:solidFill>
                      <a:srgbClr val="161E31"/>
                    </a:solidFill>
                  </a:tcPr>
                </a:tc>
                <a:tc>
                  <a:txBody>
                    <a:bodyPr/>
                    <a:lstStyle/>
                    <a:p>
                      <a:pPr>
                        <a:defRPr sz="950" b="0">
                          <a:solidFill>
                            <a:srgbClr val="E2E8F0"/>
                          </a:solidFill>
                        </a:defRPr>
                      </a:pPr>
                      <a:r>
                        <a:t>0,99</a:t>
                      </a:r>
                    </a:p>
                  </a:txBody>
                  <a:tcPr>
                    <a:solidFill>
                      <a:srgbClr val="161E31"/>
                    </a:solidFill>
                  </a:tcPr>
                </a:tc>
                <a:tc>
                  <a:txBody>
                    <a:bodyPr/>
                    <a:lstStyle/>
                    <a:p>
                      <a:pPr>
                        <a:defRPr sz="950" b="0">
                          <a:solidFill>
                            <a:srgbClr val="E2E8F0"/>
                          </a:solidFill>
                        </a:defRPr>
                      </a:pPr>
                      <a:r>
                        <a:t>0,99</a:t>
                      </a:r>
                    </a:p>
                  </a:txBody>
                  <a:tcPr>
                    <a:solidFill>
                      <a:srgbClr val="161E31"/>
                    </a:solidFill>
                  </a:tcPr>
                </a:tc>
                <a:tc>
                  <a:txBody>
                    <a:bodyPr/>
                    <a:lstStyle/>
                    <a:p>
                      <a:pPr>
                        <a:defRPr sz="950" b="0">
                          <a:solidFill>
                            <a:srgbClr val="E2E8F0"/>
                          </a:solidFill>
                        </a:defRPr>
                      </a:pPr>
                      <a:r>
                        <a:t>0,99</a:t>
                      </a:r>
                    </a:p>
                  </a:txBody>
                  <a:tcPr>
                    <a:solidFill>
                      <a:srgbClr val="161E31"/>
                    </a:solidFill>
                  </a:tcPr>
                </a:tc>
                <a:tc>
                  <a:txBody>
                    <a:bodyPr/>
                    <a:lstStyle/>
                    <a:p>
                      <a:pPr>
                        <a:defRPr sz="950" b="0">
                          <a:solidFill>
                            <a:srgbClr val="E2E8F0"/>
                          </a:solidFill>
                        </a:defRPr>
                      </a:pPr>
                      <a:r>
                        <a:t>1.311</a:t>
                      </a:r>
                    </a:p>
                  </a:txBody>
                  <a:tcPr>
                    <a:solidFill>
                      <a:srgbClr val="161E31"/>
                    </a:solidFill>
                  </a:tcPr>
                </a:tc>
              </a:tr>
              <a:tr h="514350">
                <a:tc>
                  <a:txBody>
                    <a:bodyPr/>
                    <a:lstStyle/>
                    <a:p>
                      <a:pPr>
                        <a:defRPr sz="950" b="0">
                          <a:solidFill>
                            <a:srgbClr val="E2E8F0"/>
                          </a:solidFill>
                        </a:defRPr>
                      </a:pPr>
                      <a:r>
                        <a:t>Média Ponderada</a:t>
                      </a:r>
                    </a:p>
                  </a:txBody>
                  <a:tcPr>
                    <a:solidFill>
                      <a:srgbClr val="141D30"/>
                    </a:solidFill>
                  </a:tcPr>
                </a:tc>
                <a:tc>
                  <a:txBody>
                    <a:bodyPr/>
                    <a:lstStyle/>
                    <a:p>
                      <a:pPr>
                        <a:defRPr sz="950" b="0">
                          <a:solidFill>
                            <a:srgbClr val="E2E8F0"/>
                          </a:solidFill>
                        </a:defRPr>
                      </a:pPr>
                      <a:r>
                        <a:t>0,99</a:t>
                      </a:r>
                    </a:p>
                  </a:txBody>
                  <a:tcPr>
                    <a:solidFill>
                      <a:srgbClr val="141D30"/>
                    </a:solidFill>
                  </a:tcPr>
                </a:tc>
                <a:tc>
                  <a:txBody>
                    <a:bodyPr/>
                    <a:lstStyle/>
                    <a:p>
                      <a:pPr>
                        <a:defRPr sz="950" b="0">
                          <a:solidFill>
                            <a:srgbClr val="E2E8F0"/>
                          </a:solidFill>
                        </a:defRPr>
                      </a:pPr>
                      <a:r>
                        <a:t>0,99</a:t>
                      </a:r>
                    </a:p>
                  </a:txBody>
                  <a:tcPr>
                    <a:solidFill>
                      <a:srgbClr val="141D30"/>
                    </a:solidFill>
                  </a:tcPr>
                </a:tc>
                <a:tc>
                  <a:txBody>
                    <a:bodyPr/>
                    <a:lstStyle/>
                    <a:p>
                      <a:pPr>
                        <a:defRPr sz="950" b="0">
                          <a:solidFill>
                            <a:srgbClr val="E2E8F0"/>
                          </a:solidFill>
                        </a:defRPr>
                      </a:pPr>
                      <a:r>
                        <a:t>0,99</a:t>
                      </a:r>
                    </a:p>
                  </a:txBody>
                  <a:tcPr>
                    <a:solidFill>
                      <a:srgbClr val="141D30"/>
                    </a:solidFill>
                  </a:tcPr>
                </a:tc>
                <a:tc>
                  <a:txBody>
                    <a:bodyPr/>
                    <a:lstStyle/>
                    <a:p>
                      <a:pPr>
                        <a:defRPr sz="950" b="0">
                          <a:solidFill>
                            <a:srgbClr val="E2E8F0"/>
                          </a:solidFill>
                        </a:defRPr>
                      </a:pPr>
                      <a:r>
                        <a:t>1.311</a:t>
                      </a:r>
                    </a:p>
                  </a:txBody>
                  <a:tcPr>
                    <a:solidFill>
                      <a:srgbClr val="141D30"/>
                    </a:solidFill>
                  </a:tcPr>
                </a:tc>
              </a:tr>
            </a:tbl>
          </a:graphicData>
        </a:graphic>
      </p:graphicFrame>
      <p:sp>
        <p:nvSpPr>
          <p:cNvPr id="8" name="TextBox 7"/>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9" name="TextBox 8"/>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1 • EXPLICABILIDADE (XAI)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1  |  ⏱️ 11:30 - 12:30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Explicabilidade com Grad-CAM e Validação Externa</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Localização Anatômica Real do Tumor e Auditoria em Base Inédita</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400"/>
              </a:spcBef>
              <a:defRPr sz="1100">
                <a:solidFill>
                  <a:srgbClr val="94A3B8"/>
                </a:solidFill>
              </a:defRPr>
            </a:pPr>
            <a:r>
              <a:t>Cálculo dos gradientes da classe $y^c$ sobre o mapa convolucional $A^k$ via Global Average Pooling:</a:t>
            </a:r>
          </a:p>
          <a:p>
            <a:pPr>
              <a:spcBef>
                <a:spcPts val="400"/>
              </a:spcBef>
              <a:defRPr sz="1100">
                <a:solidFill>
                  <a:srgbClr val="94A3B8"/>
                </a:solidFill>
              </a:defRPr>
            </a:pPr>
            <a:r>
              <a:t>Combinação linear ponderada retificada com função ReLU:</a:t>
            </a:r>
          </a:p>
          <a:p>
            <a:pPr>
              <a:spcBef>
                <a:spcPts val="400"/>
              </a:spcBef>
              <a:defRPr sz="1100">
                <a:solidFill>
                  <a:srgbClr val="94A3B8"/>
                </a:solidFill>
              </a:defRPr>
            </a:pPr>
            <a:r>
              <a:t>O mapa é interpolado bilinearmente e sobreposto à ressonância em mapa térmico colorimétrico.</a:t>
            </a:r>
          </a:p>
        </p:txBody>
      </p:sp>
      <p:sp>
        <p:nvSpPr>
          <p:cNvPr id="8" name="Rounded Rectangle 7"/>
          <p:cNvSpPr/>
          <p:nvPr/>
        </p:nvSpPr>
        <p:spPr>
          <a:xfrm>
            <a:off x="6217920" y="1965960"/>
            <a:ext cx="52120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Acurácia Espacial Anatômica: As zonas quentes do mapa térmico coincidem rigorosamente com a massa tumoral e bordas de edema contrastado.</a:t>
            </a:r>
          </a:p>
          <a:p>
            <a:pPr>
              <a:spcBef>
                <a:spcPts val="300"/>
              </a:spcBef>
              <a:defRPr sz="1100">
                <a:solidFill>
                  <a:srgbClr val="E2E8F0"/>
                </a:solidFill>
              </a:defRPr>
            </a:pPr>
            <a:r>
              <a:t>• Ausência de Vícios de Borda: A rede não ativou neurônios em ossos cranianos, marcas de scanner ou fundo escuro.</a:t>
            </a:r>
          </a:p>
          <a:p>
            <a:pPr>
              <a:spcBef>
                <a:spcPts val="300"/>
              </a:spcBef>
              <a:defRPr sz="1100">
                <a:solidFill>
                  <a:srgbClr val="E2E8F0"/>
                </a:solidFill>
              </a:defRPr>
            </a:pPr>
            <a:r>
              <a:t>• Teste Cego Externo (Bhuvaji et al.): A rede foi avaliada em ressonâncias de outro hospital/scanner; o Grad-CAM manteve o foco correto na lesão, descartando memorização espúria de iluminação.</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2 • PUC MINAS / UFMG (SBC 2025)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2  |  ⏱️ 12:30 - 14:00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Citopatologia Cervical e o Sistema Bethesda</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Rastreamento Automatizado em 6 Classes de Papanicolau via Vision Transformers</a:t>
            </a:r>
          </a:p>
        </p:txBody>
      </p:sp>
      <p:graphicFrame>
        <p:nvGraphicFramePr>
          <p:cNvPr id="7" name="Table 6"/>
          <p:cNvGraphicFramePr>
            <a:graphicFrameLocks noGrp="1"/>
          </p:cNvGraphicFramePr>
          <p:nvPr/>
        </p:nvGraphicFramePr>
        <p:xfrm>
          <a:off x="731520" y="1965960"/>
          <a:ext cx="10698480" cy="4114800"/>
        </p:xfrm>
        <a:graphic>
          <a:graphicData uri="http://schemas.openxmlformats.org/drawingml/2006/table">
            <a:tbl>
              <a:tblPr firstRow="1" bandRow="1">
                <a:tableStyleId>{5C22544A-7EE6-4342-B048-85BDC9FD1C3A}</a:tableStyleId>
              </a:tblPr>
              <a:tblGrid>
                <a:gridCol w="3566160"/>
                <a:gridCol w="3566160"/>
                <a:gridCol w="3566160"/>
              </a:tblGrid>
              <a:tr h="587828">
                <a:tc>
                  <a:txBody>
                    <a:bodyPr/>
                    <a:lstStyle/>
                    <a:p>
                      <a:pPr>
                        <a:defRPr sz="1000" b="1">
                          <a:solidFill>
                            <a:srgbClr val="38BDF8"/>
                          </a:solidFill>
                        </a:defRPr>
                      </a:pPr>
                      <a:r>
                        <a:t>Classe</a:t>
                      </a:r>
                    </a:p>
                  </a:txBody>
                  <a:tcPr>
                    <a:solidFill>
                      <a:srgbClr val="1E293B"/>
                    </a:solidFill>
                  </a:tcPr>
                </a:tc>
                <a:tc>
                  <a:txBody>
                    <a:bodyPr/>
                    <a:lstStyle/>
                    <a:p>
                      <a:pPr>
                        <a:defRPr sz="1000" b="1">
                          <a:solidFill>
                            <a:srgbClr val="38BDF8"/>
                          </a:solidFill>
                        </a:defRPr>
                      </a:pPr>
                      <a:r>
                        <a:t>Significado Clínico</a:t>
                      </a:r>
                    </a:p>
                  </a:txBody>
                  <a:tcPr>
                    <a:solidFill>
                      <a:srgbClr val="1E293B"/>
                    </a:solidFill>
                  </a:tcPr>
                </a:tc>
                <a:tc>
                  <a:txBody>
                    <a:bodyPr/>
                    <a:lstStyle/>
                    <a:p>
                      <a:pPr>
                        <a:defRPr sz="1000" b="1">
                          <a:solidFill>
                            <a:srgbClr val="38BDF8"/>
                          </a:solidFill>
                        </a:defRPr>
                      </a:pPr>
                      <a:r>
                        <a:t>Gravidade</a:t>
                      </a:r>
                    </a:p>
                  </a:txBody>
                  <a:tcPr>
                    <a:solidFill>
                      <a:srgbClr val="1E293B"/>
                    </a:solidFill>
                  </a:tcPr>
                </a:tc>
              </a:tr>
              <a:tr h="587828">
                <a:tc>
                  <a:txBody>
                    <a:bodyPr/>
                    <a:lstStyle/>
                    <a:p>
                      <a:pPr>
                        <a:defRPr sz="950" b="0">
                          <a:solidFill>
                            <a:srgbClr val="E2E8F0"/>
                          </a:solidFill>
                        </a:defRPr>
                      </a:pPr>
                      <a:r>
                        <a:t>NFIL</a:t>
                      </a:r>
                    </a:p>
                  </a:txBody>
                  <a:tcPr>
                    <a:solidFill>
                      <a:srgbClr val="141D30"/>
                    </a:solidFill>
                  </a:tcPr>
                </a:tc>
                <a:tc>
                  <a:txBody>
                    <a:bodyPr/>
                    <a:lstStyle/>
                    <a:p>
                      <a:pPr>
                        <a:defRPr sz="950" b="0">
                          <a:solidFill>
                            <a:srgbClr val="E2E8F0"/>
                          </a:solidFill>
                        </a:defRPr>
                      </a:pPr>
                      <a:r>
                        <a:t>Negativo para Lesão Intraepitelial (Sadio)</a:t>
                      </a:r>
                    </a:p>
                  </a:txBody>
                  <a:tcPr>
                    <a:solidFill>
                      <a:srgbClr val="141D30"/>
                    </a:solidFill>
                  </a:tcPr>
                </a:tc>
                <a:tc>
                  <a:txBody>
                    <a:bodyPr/>
                    <a:lstStyle/>
                    <a:p>
                      <a:pPr>
                        <a:defRPr sz="950" b="0">
                          <a:solidFill>
                            <a:srgbClr val="E2E8F0"/>
                          </a:solidFill>
                        </a:defRPr>
                      </a:pPr>
                      <a:r>
                        <a:t>Triagem Normal</a:t>
                      </a:r>
                    </a:p>
                  </a:txBody>
                  <a:tcPr>
                    <a:solidFill>
                      <a:srgbClr val="141D30"/>
                    </a:solidFill>
                  </a:tcPr>
                </a:tc>
              </a:tr>
              <a:tr h="587828">
                <a:tc>
                  <a:txBody>
                    <a:bodyPr/>
                    <a:lstStyle/>
                    <a:p>
                      <a:pPr>
                        <a:defRPr sz="950" b="0">
                          <a:solidFill>
                            <a:srgbClr val="E2E8F0"/>
                          </a:solidFill>
                        </a:defRPr>
                      </a:pPr>
                      <a:r>
                        <a:t>ASC-US</a:t>
                      </a:r>
                    </a:p>
                  </a:txBody>
                  <a:tcPr>
                    <a:solidFill>
                      <a:srgbClr val="161E31"/>
                    </a:solidFill>
                  </a:tcPr>
                </a:tc>
                <a:tc>
                  <a:txBody>
                    <a:bodyPr/>
                    <a:lstStyle/>
                    <a:p>
                      <a:pPr>
                        <a:defRPr sz="950" b="0">
                          <a:solidFill>
                            <a:srgbClr val="E2E8F0"/>
                          </a:solidFill>
                        </a:defRPr>
                      </a:pPr>
                      <a:r>
                        <a:t>Células Atípicas de Sig. Indeterminado</a:t>
                      </a:r>
                    </a:p>
                  </a:txBody>
                  <a:tcPr>
                    <a:solidFill>
                      <a:srgbClr val="161E31"/>
                    </a:solidFill>
                  </a:tcPr>
                </a:tc>
                <a:tc>
                  <a:txBody>
                    <a:bodyPr/>
                    <a:lstStyle/>
                    <a:p>
                      <a:pPr>
                        <a:defRPr sz="950" b="0">
                          <a:solidFill>
                            <a:srgbClr val="E2E8F0"/>
                          </a:solidFill>
                        </a:defRPr>
                      </a:pPr>
                      <a:r>
                        <a:t>Atipia Leve (HPV)</a:t>
                      </a:r>
                    </a:p>
                  </a:txBody>
                  <a:tcPr>
                    <a:solidFill>
                      <a:srgbClr val="161E31"/>
                    </a:solidFill>
                  </a:tcPr>
                </a:tc>
              </a:tr>
              <a:tr h="587828">
                <a:tc>
                  <a:txBody>
                    <a:bodyPr/>
                    <a:lstStyle/>
                    <a:p>
                      <a:pPr>
                        <a:defRPr sz="950" b="0">
                          <a:solidFill>
                            <a:srgbClr val="E2E8F0"/>
                          </a:solidFill>
                        </a:defRPr>
                      </a:pPr>
                      <a:r>
                        <a:t>ASC-H</a:t>
                      </a:r>
                    </a:p>
                  </a:txBody>
                  <a:tcPr>
                    <a:solidFill>
                      <a:srgbClr val="141D30"/>
                    </a:solidFill>
                  </a:tcPr>
                </a:tc>
                <a:tc>
                  <a:txBody>
                    <a:bodyPr/>
                    <a:lstStyle/>
                    <a:p>
                      <a:pPr>
                        <a:defRPr sz="950" b="0">
                          <a:solidFill>
                            <a:srgbClr val="E2E8F0"/>
                          </a:solidFill>
                        </a:defRPr>
                      </a:pPr>
                      <a:r>
                        <a:t>Células Atípicas — não exclui Alto Grau</a:t>
                      </a:r>
                    </a:p>
                  </a:txBody>
                  <a:tcPr>
                    <a:solidFill>
                      <a:srgbClr val="141D30"/>
                    </a:solidFill>
                  </a:tcPr>
                </a:tc>
                <a:tc>
                  <a:txBody>
                    <a:bodyPr/>
                    <a:lstStyle/>
                    <a:p>
                      <a:pPr>
                        <a:defRPr sz="950" b="0">
                          <a:solidFill>
                            <a:srgbClr val="E2E8F0"/>
                          </a:solidFill>
                        </a:defRPr>
                      </a:pPr>
                      <a:r>
                        <a:t>Suspeita Alta</a:t>
                      </a:r>
                    </a:p>
                  </a:txBody>
                  <a:tcPr>
                    <a:solidFill>
                      <a:srgbClr val="141D30"/>
                    </a:solidFill>
                  </a:tcPr>
                </a:tc>
              </a:tr>
              <a:tr h="587828">
                <a:tc>
                  <a:txBody>
                    <a:bodyPr/>
                    <a:lstStyle/>
                    <a:p>
                      <a:pPr>
                        <a:defRPr sz="950" b="0">
                          <a:solidFill>
                            <a:srgbClr val="E2E8F0"/>
                          </a:solidFill>
                        </a:defRPr>
                      </a:pPr>
                      <a:r>
                        <a:t>LSIL</a:t>
                      </a:r>
                    </a:p>
                  </a:txBody>
                  <a:tcPr>
                    <a:solidFill>
                      <a:srgbClr val="161E31"/>
                    </a:solidFill>
                  </a:tcPr>
                </a:tc>
                <a:tc>
                  <a:txBody>
                    <a:bodyPr/>
                    <a:lstStyle/>
                    <a:p>
                      <a:pPr>
                        <a:defRPr sz="950" b="0">
                          <a:solidFill>
                            <a:srgbClr val="E2E8F0"/>
                          </a:solidFill>
                        </a:defRPr>
                      </a:pPr>
                      <a:r>
                        <a:t>Lesão Intraepitelial de Baixo Grau</a:t>
                      </a:r>
                    </a:p>
                  </a:txBody>
                  <a:tcPr>
                    <a:solidFill>
                      <a:srgbClr val="161E31"/>
                    </a:solidFill>
                  </a:tcPr>
                </a:tc>
                <a:tc>
                  <a:txBody>
                    <a:bodyPr/>
                    <a:lstStyle/>
                    <a:p>
                      <a:pPr>
                        <a:defRPr sz="950" b="0">
                          <a:solidFill>
                            <a:srgbClr val="E2E8F0"/>
                          </a:solidFill>
                        </a:defRPr>
                      </a:pPr>
                      <a:r>
                        <a:t>Pré-maligna Leve</a:t>
                      </a:r>
                    </a:p>
                  </a:txBody>
                  <a:tcPr>
                    <a:solidFill>
                      <a:srgbClr val="161E31"/>
                    </a:solidFill>
                  </a:tcPr>
                </a:tc>
              </a:tr>
              <a:tr h="587828">
                <a:tc>
                  <a:txBody>
                    <a:bodyPr/>
                    <a:lstStyle/>
                    <a:p>
                      <a:pPr>
                        <a:defRPr sz="950" b="0">
                          <a:solidFill>
                            <a:srgbClr val="E2E8F0"/>
                          </a:solidFill>
                        </a:defRPr>
                      </a:pPr>
                      <a:r>
                        <a:t>HSIL</a:t>
                      </a:r>
                    </a:p>
                  </a:txBody>
                  <a:tcPr>
                    <a:solidFill>
                      <a:srgbClr val="141D30"/>
                    </a:solidFill>
                  </a:tcPr>
                </a:tc>
                <a:tc>
                  <a:txBody>
                    <a:bodyPr/>
                    <a:lstStyle/>
                    <a:p>
                      <a:pPr>
                        <a:defRPr sz="950" b="0">
                          <a:solidFill>
                            <a:srgbClr val="E2E8F0"/>
                          </a:solidFill>
                        </a:defRPr>
                      </a:pPr>
                      <a:r>
                        <a:t>Lesão Intraepitelial de Alto Grau</a:t>
                      </a:r>
                    </a:p>
                  </a:txBody>
                  <a:tcPr>
                    <a:solidFill>
                      <a:srgbClr val="141D30"/>
                    </a:solidFill>
                  </a:tcPr>
                </a:tc>
                <a:tc>
                  <a:txBody>
                    <a:bodyPr/>
                    <a:lstStyle/>
                    <a:p>
                      <a:pPr>
                        <a:defRPr sz="950" b="0">
                          <a:solidFill>
                            <a:srgbClr val="E2E8F0"/>
                          </a:solidFill>
                        </a:defRPr>
                      </a:pPr>
                      <a:r>
                        <a:t>Pré-maligna Severa</a:t>
                      </a:r>
                    </a:p>
                  </a:txBody>
                  <a:tcPr>
                    <a:solidFill>
                      <a:srgbClr val="141D30"/>
                    </a:solidFill>
                  </a:tcPr>
                </a:tc>
              </a:tr>
              <a:tr h="587832">
                <a:tc>
                  <a:txBody>
                    <a:bodyPr/>
                    <a:lstStyle/>
                    <a:p>
                      <a:pPr>
                        <a:defRPr sz="950" b="0">
                          <a:solidFill>
                            <a:srgbClr val="E2E8F0"/>
                          </a:solidFill>
                        </a:defRPr>
                      </a:pPr>
                      <a:r>
                        <a:t>SCC</a:t>
                      </a:r>
                    </a:p>
                  </a:txBody>
                  <a:tcPr>
                    <a:solidFill>
                      <a:srgbClr val="161E31"/>
                    </a:solidFill>
                  </a:tcPr>
                </a:tc>
                <a:tc>
                  <a:txBody>
                    <a:bodyPr/>
                    <a:lstStyle/>
                    <a:p>
                      <a:pPr>
                        <a:defRPr sz="950" b="0">
                          <a:solidFill>
                            <a:srgbClr val="E2E8F0"/>
                          </a:solidFill>
                        </a:defRPr>
                      </a:pPr>
                      <a:r>
                        <a:t>Carcinoma Escamoso Invasivo</a:t>
                      </a:r>
                    </a:p>
                  </a:txBody>
                  <a:tcPr>
                    <a:solidFill>
                      <a:srgbClr val="161E31"/>
                    </a:solidFill>
                  </a:tcPr>
                </a:tc>
                <a:tc>
                  <a:txBody>
                    <a:bodyPr/>
                    <a:lstStyle/>
                    <a:p>
                      <a:pPr>
                        <a:defRPr sz="950" b="0">
                          <a:solidFill>
                            <a:srgbClr val="E2E8F0"/>
                          </a:solidFill>
                        </a:defRPr>
                      </a:pPr>
                      <a:r>
                        <a:t>Câncer Invasor</a:t>
                      </a:r>
                    </a:p>
                  </a:txBody>
                  <a:tcPr>
                    <a:solidFill>
                      <a:srgbClr val="161E31"/>
                    </a:solidFill>
                  </a:tcPr>
                </a:tc>
              </a:tr>
            </a:tbl>
          </a:graphicData>
        </a:graphic>
      </p:graphicFrame>
      <p:sp>
        <p:nvSpPr>
          <p:cNvPr id="8" name="TextBox 7"/>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9" name="TextBox 8"/>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2 • BASE DE DADOS E ANTI-LEAKAGE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2  |  ⏱️ 14:00 - 15:15</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Dataset CRIC e Blindagem Anti-Leakage por Paciente</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Estratificação Estrita no Nível de Paciente em 11.534 Núcleos Celulares</a:t>
            </a:r>
          </a:p>
        </p:txBody>
      </p:sp>
      <p:sp>
        <p:nvSpPr>
          <p:cNvPr id="7" name="TextBox 6"/>
          <p:cNvSpPr txBox="1"/>
          <p:nvPr/>
        </p:nvSpPr>
        <p:spPr>
          <a:xfrm>
            <a:off x="731520" y="1965960"/>
            <a:ext cx="10698480" cy="411480"/>
          </a:xfrm>
          <a:prstGeom prst="rect">
            <a:avLst/>
          </a:prstGeom>
          <a:noFill/>
        </p:spPr>
        <p:txBody>
          <a:bodyPr wrap="square">
            <a:spAutoFit/>
          </a:bodyPr>
          <a:lstStyle/>
          <a:p>
            <a:pPr>
              <a:defRPr sz="1200">
                <a:solidFill>
                  <a:srgbClr val="E2E8F0"/>
                </a:solidFill>
              </a:defRPr>
            </a:pPr>
            <a:r>
              <a:t>Apenas 161 núcleos de carcinoma em toda a base! O oversampling tornou-se mandatório.</a:t>
            </a:r>
          </a:p>
        </p:txBody>
      </p:sp>
      <p:graphicFrame>
        <p:nvGraphicFramePr>
          <p:cNvPr id="8" name="Table 7"/>
          <p:cNvGraphicFramePr>
            <a:graphicFrameLocks noGrp="1"/>
          </p:cNvGraphicFramePr>
          <p:nvPr/>
        </p:nvGraphicFramePr>
        <p:xfrm>
          <a:off x="731520" y="2377440"/>
          <a:ext cx="10698480" cy="384048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548640">
                <a:tc>
                  <a:txBody>
                    <a:bodyPr/>
                    <a:lstStyle/>
                    <a:p>
                      <a:pPr>
                        <a:defRPr sz="1000" b="1">
                          <a:solidFill>
                            <a:srgbClr val="38BDF8"/>
                          </a:solidFill>
                        </a:defRPr>
                      </a:pPr>
                      <a:r>
                        <a:t>Classe Bethesda</a:t>
                      </a:r>
                    </a:p>
                  </a:txBody>
                  <a:tcPr>
                    <a:solidFill>
                      <a:srgbClr val="1E293B"/>
                    </a:solidFill>
                  </a:tcPr>
                </a:tc>
                <a:tc>
                  <a:txBody>
                    <a:bodyPr/>
                    <a:lstStyle/>
                    <a:p>
                      <a:pPr>
                        <a:defRPr sz="1000" b="1">
                          <a:solidFill>
                            <a:srgbClr val="38BDF8"/>
                          </a:solidFill>
                        </a:defRPr>
                      </a:pPr>
                      <a:r>
                        <a:t>Treino</a:t>
                      </a:r>
                    </a:p>
                  </a:txBody>
                  <a:tcPr>
                    <a:solidFill>
                      <a:srgbClr val="1E293B"/>
                    </a:solidFill>
                  </a:tcPr>
                </a:tc>
                <a:tc>
                  <a:txBody>
                    <a:bodyPr/>
                    <a:lstStyle/>
                    <a:p>
                      <a:pPr>
                        <a:defRPr sz="1000" b="1">
                          <a:solidFill>
                            <a:srgbClr val="38BDF8"/>
                          </a:solidFill>
                        </a:defRPr>
                      </a:pPr>
                      <a:r>
                        <a:t>Validação</a:t>
                      </a:r>
                    </a:p>
                  </a:txBody>
                  <a:tcPr>
                    <a:solidFill>
                      <a:srgbClr val="1E293B"/>
                    </a:solidFill>
                  </a:tcPr>
                </a:tc>
                <a:tc>
                  <a:txBody>
                    <a:bodyPr/>
                    <a:lstStyle/>
                    <a:p>
                      <a:pPr>
                        <a:defRPr sz="1000" b="1">
                          <a:solidFill>
                            <a:srgbClr val="38BDF8"/>
                          </a:solidFill>
                        </a:defRPr>
                      </a:pPr>
                      <a:r>
                        <a:t>Teste</a:t>
                      </a:r>
                    </a:p>
                  </a:txBody>
                  <a:tcPr>
                    <a:solidFill>
                      <a:srgbClr val="1E293B"/>
                    </a:solidFill>
                  </a:tcPr>
                </a:tc>
                <a:tc>
                  <a:txBody>
                    <a:bodyPr/>
                    <a:lstStyle/>
                    <a:p>
                      <a:pPr>
                        <a:defRPr sz="1000" b="1">
                          <a:solidFill>
                            <a:srgbClr val="38BDF8"/>
                          </a:solidFill>
                        </a:defRPr>
                      </a:pPr>
                      <a:r>
                        <a:t>Total</a:t>
                      </a:r>
                    </a:p>
                  </a:txBody>
                  <a:tcPr>
                    <a:solidFill>
                      <a:srgbClr val="1E293B"/>
                    </a:solidFill>
                  </a:tcPr>
                </a:tc>
              </a:tr>
              <a:tr h="548640">
                <a:tc>
                  <a:txBody>
                    <a:bodyPr/>
                    <a:lstStyle/>
                    <a:p>
                      <a:pPr>
                        <a:defRPr sz="950" b="0">
                          <a:solidFill>
                            <a:srgbClr val="E2E8F0"/>
                          </a:solidFill>
                        </a:defRPr>
                      </a:pPr>
                      <a:r>
                        <a:t>NFIL (Normal)</a:t>
                      </a:r>
                    </a:p>
                  </a:txBody>
                  <a:tcPr>
                    <a:solidFill>
                      <a:srgbClr val="141D30"/>
                    </a:solidFill>
                  </a:tcPr>
                </a:tc>
                <a:tc>
                  <a:txBody>
                    <a:bodyPr/>
                    <a:lstStyle/>
                    <a:p>
                      <a:pPr>
                        <a:defRPr sz="950" b="0">
                          <a:solidFill>
                            <a:srgbClr val="E2E8F0"/>
                          </a:solidFill>
                        </a:defRPr>
                      </a:pPr>
                      <a:r>
                        <a:t>4.339</a:t>
                      </a:r>
                    </a:p>
                  </a:txBody>
                  <a:tcPr>
                    <a:solidFill>
                      <a:srgbClr val="141D30"/>
                    </a:solidFill>
                  </a:tcPr>
                </a:tc>
                <a:tc>
                  <a:txBody>
                    <a:bodyPr/>
                    <a:lstStyle/>
                    <a:p>
                      <a:pPr>
                        <a:defRPr sz="950" b="0">
                          <a:solidFill>
                            <a:srgbClr val="E2E8F0"/>
                          </a:solidFill>
                        </a:defRPr>
                      </a:pPr>
                      <a:r>
                        <a:t>1.356</a:t>
                      </a:r>
                    </a:p>
                  </a:txBody>
                  <a:tcPr>
                    <a:solidFill>
                      <a:srgbClr val="141D30"/>
                    </a:solidFill>
                  </a:tcPr>
                </a:tc>
                <a:tc>
                  <a:txBody>
                    <a:bodyPr/>
                    <a:lstStyle/>
                    <a:p>
                      <a:pPr>
                        <a:defRPr sz="950" b="0">
                          <a:solidFill>
                            <a:srgbClr val="E2E8F0"/>
                          </a:solidFill>
                        </a:defRPr>
                      </a:pPr>
                      <a:r>
                        <a:t>1.084</a:t>
                      </a:r>
                    </a:p>
                  </a:txBody>
                  <a:tcPr>
                    <a:solidFill>
                      <a:srgbClr val="141D30"/>
                    </a:solidFill>
                  </a:tcPr>
                </a:tc>
                <a:tc>
                  <a:txBody>
                    <a:bodyPr/>
                    <a:lstStyle/>
                    <a:p>
                      <a:pPr>
                        <a:defRPr sz="950" b="0">
                          <a:solidFill>
                            <a:srgbClr val="E2E8F0"/>
                          </a:solidFill>
                        </a:defRPr>
                      </a:pPr>
                      <a:r>
                        <a:t>6.779</a:t>
                      </a:r>
                    </a:p>
                  </a:txBody>
                  <a:tcPr>
                    <a:solidFill>
                      <a:srgbClr val="141D30"/>
                    </a:solidFill>
                  </a:tcPr>
                </a:tc>
              </a:tr>
              <a:tr h="548640">
                <a:tc>
                  <a:txBody>
                    <a:bodyPr/>
                    <a:lstStyle/>
                    <a:p>
                      <a:pPr>
                        <a:defRPr sz="950" b="0">
                          <a:solidFill>
                            <a:srgbClr val="E2E8F0"/>
                          </a:solidFill>
                        </a:defRPr>
                      </a:pPr>
                      <a:r>
                        <a:t>HSIL (Alto Grau)</a:t>
                      </a:r>
                    </a:p>
                  </a:txBody>
                  <a:tcPr>
                    <a:solidFill>
                      <a:srgbClr val="161E31"/>
                    </a:solidFill>
                  </a:tcPr>
                </a:tc>
                <a:tc>
                  <a:txBody>
                    <a:bodyPr/>
                    <a:lstStyle/>
                    <a:p>
                      <a:pPr>
                        <a:defRPr sz="950" b="0">
                          <a:solidFill>
                            <a:srgbClr val="E2E8F0"/>
                          </a:solidFill>
                        </a:defRPr>
                      </a:pPr>
                      <a:r>
                        <a:t>1.090</a:t>
                      </a:r>
                    </a:p>
                  </a:txBody>
                  <a:tcPr>
                    <a:solidFill>
                      <a:srgbClr val="161E31"/>
                    </a:solidFill>
                  </a:tcPr>
                </a:tc>
                <a:tc>
                  <a:txBody>
                    <a:bodyPr/>
                    <a:lstStyle/>
                    <a:p>
                      <a:pPr>
                        <a:defRPr sz="950" b="0">
                          <a:solidFill>
                            <a:srgbClr val="E2E8F0"/>
                          </a:solidFill>
                        </a:defRPr>
                      </a:pPr>
                      <a:r>
                        <a:t>341</a:t>
                      </a:r>
                    </a:p>
                  </a:txBody>
                  <a:tcPr>
                    <a:solidFill>
                      <a:srgbClr val="161E31"/>
                    </a:solidFill>
                  </a:tcPr>
                </a:tc>
                <a:tc>
                  <a:txBody>
                    <a:bodyPr/>
                    <a:lstStyle/>
                    <a:p>
                      <a:pPr>
                        <a:defRPr sz="950" b="0">
                          <a:solidFill>
                            <a:srgbClr val="E2E8F0"/>
                          </a:solidFill>
                        </a:defRPr>
                      </a:pPr>
                      <a:r>
                        <a:t>272</a:t>
                      </a:r>
                    </a:p>
                  </a:txBody>
                  <a:tcPr>
                    <a:solidFill>
                      <a:srgbClr val="161E31"/>
                    </a:solidFill>
                  </a:tcPr>
                </a:tc>
                <a:tc>
                  <a:txBody>
                    <a:bodyPr/>
                    <a:lstStyle/>
                    <a:p>
                      <a:pPr>
                        <a:defRPr sz="950" b="0">
                          <a:solidFill>
                            <a:srgbClr val="E2E8F0"/>
                          </a:solidFill>
                        </a:defRPr>
                      </a:pPr>
                      <a:r>
                        <a:t>1.703</a:t>
                      </a:r>
                    </a:p>
                  </a:txBody>
                  <a:tcPr>
                    <a:solidFill>
                      <a:srgbClr val="161E31"/>
                    </a:solidFill>
                  </a:tcPr>
                </a:tc>
              </a:tr>
              <a:tr h="548640">
                <a:tc>
                  <a:txBody>
                    <a:bodyPr/>
                    <a:lstStyle/>
                    <a:p>
                      <a:pPr>
                        <a:defRPr sz="950" b="0">
                          <a:solidFill>
                            <a:srgbClr val="E2E8F0"/>
                          </a:solidFill>
                        </a:defRPr>
                      </a:pPr>
                      <a:r>
                        <a:t>LSIL (Baixo Grau)</a:t>
                      </a:r>
                    </a:p>
                  </a:txBody>
                  <a:tcPr>
                    <a:solidFill>
                      <a:srgbClr val="141D30"/>
                    </a:solidFill>
                  </a:tcPr>
                </a:tc>
                <a:tc>
                  <a:txBody>
                    <a:bodyPr/>
                    <a:lstStyle/>
                    <a:p>
                      <a:pPr>
                        <a:defRPr sz="950" b="0">
                          <a:solidFill>
                            <a:srgbClr val="E2E8F0"/>
                          </a:solidFill>
                        </a:defRPr>
                      </a:pPr>
                      <a:r>
                        <a:t>871</a:t>
                      </a:r>
                    </a:p>
                  </a:txBody>
                  <a:tcPr>
                    <a:solidFill>
                      <a:srgbClr val="141D30"/>
                    </a:solidFill>
                  </a:tcPr>
                </a:tc>
                <a:tc>
                  <a:txBody>
                    <a:bodyPr/>
                    <a:lstStyle/>
                    <a:p>
                      <a:pPr>
                        <a:defRPr sz="950" b="0">
                          <a:solidFill>
                            <a:srgbClr val="E2E8F0"/>
                          </a:solidFill>
                        </a:defRPr>
                      </a:pPr>
                      <a:r>
                        <a:t>272</a:t>
                      </a:r>
                    </a:p>
                  </a:txBody>
                  <a:tcPr>
                    <a:solidFill>
                      <a:srgbClr val="141D30"/>
                    </a:solidFill>
                  </a:tcPr>
                </a:tc>
                <a:tc>
                  <a:txBody>
                    <a:bodyPr/>
                    <a:lstStyle/>
                    <a:p>
                      <a:pPr>
                        <a:defRPr sz="950" b="0">
                          <a:solidFill>
                            <a:srgbClr val="E2E8F0"/>
                          </a:solidFill>
                        </a:defRPr>
                      </a:pPr>
                      <a:r>
                        <a:t>217</a:t>
                      </a:r>
                    </a:p>
                  </a:txBody>
                  <a:tcPr>
                    <a:solidFill>
                      <a:srgbClr val="141D30"/>
                    </a:solidFill>
                  </a:tcPr>
                </a:tc>
                <a:tc>
                  <a:txBody>
                    <a:bodyPr/>
                    <a:lstStyle/>
                    <a:p>
                      <a:pPr>
                        <a:defRPr sz="950" b="0">
                          <a:solidFill>
                            <a:srgbClr val="E2E8F0"/>
                          </a:solidFill>
                        </a:defRPr>
                      </a:pPr>
                      <a:r>
                        <a:t>1.360</a:t>
                      </a:r>
                    </a:p>
                  </a:txBody>
                  <a:tcPr>
                    <a:solidFill>
                      <a:srgbClr val="141D30"/>
                    </a:solidFill>
                  </a:tcPr>
                </a:tc>
              </a:tr>
              <a:tr h="548640">
                <a:tc>
                  <a:txBody>
                    <a:bodyPr/>
                    <a:lstStyle/>
                    <a:p>
                      <a:pPr>
                        <a:defRPr sz="950" b="0">
                          <a:solidFill>
                            <a:srgbClr val="E2E8F0"/>
                          </a:solidFill>
                        </a:defRPr>
                      </a:pPr>
                      <a:r>
                        <a:t>ASC-H (Atípico)</a:t>
                      </a:r>
                    </a:p>
                  </a:txBody>
                  <a:tcPr>
                    <a:solidFill>
                      <a:srgbClr val="161E31"/>
                    </a:solidFill>
                  </a:tcPr>
                </a:tc>
                <a:tc>
                  <a:txBody>
                    <a:bodyPr/>
                    <a:lstStyle/>
                    <a:p>
                      <a:pPr>
                        <a:defRPr sz="950" b="0">
                          <a:solidFill>
                            <a:srgbClr val="E2E8F0"/>
                          </a:solidFill>
                        </a:defRPr>
                      </a:pPr>
                      <a:r>
                        <a:t>592</a:t>
                      </a:r>
                    </a:p>
                  </a:txBody>
                  <a:tcPr>
                    <a:solidFill>
                      <a:srgbClr val="161E31"/>
                    </a:solidFill>
                  </a:tcPr>
                </a:tc>
                <a:tc>
                  <a:txBody>
                    <a:bodyPr/>
                    <a:lstStyle/>
                    <a:p>
                      <a:pPr>
                        <a:defRPr sz="950" b="0">
                          <a:solidFill>
                            <a:srgbClr val="E2E8F0"/>
                          </a:solidFill>
                        </a:defRPr>
                      </a:pPr>
                      <a:r>
                        <a:t>185</a:t>
                      </a:r>
                    </a:p>
                  </a:txBody>
                  <a:tcPr>
                    <a:solidFill>
                      <a:srgbClr val="161E31"/>
                    </a:solidFill>
                  </a:tcPr>
                </a:tc>
                <a:tc>
                  <a:txBody>
                    <a:bodyPr/>
                    <a:lstStyle/>
                    <a:p>
                      <a:pPr>
                        <a:defRPr sz="950" b="0">
                          <a:solidFill>
                            <a:srgbClr val="E2E8F0"/>
                          </a:solidFill>
                        </a:defRPr>
                      </a:pPr>
                      <a:r>
                        <a:t>148</a:t>
                      </a:r>
                    </a:p>
                  </a:txBody>
                  <a:tcPr>
                    <a:solidFill>
                      <a:srgbClr val="161E31"/>
                    </a:solidFill>
                  </a:tcPr>
                </a:tc>
                <a:tc>
                  <a:txBody>
                    <a:bodyPr/>
                    <a:lstStyle/>
                    <a:p>
                      <a:pPr>
                        <a:defRPr sz="950" b="0">
                          <a:solidFill>
                            <a:srgbClr val="E2E8F0"/>
                          </a:solidFill>
                        </a:defRPr>
                      </a:pPr>
                      <a:r>
                        <a:t>925</a:t>
                      </a:r>
                    </a:p>
                  </a:txBody>
                  <a:tcPr>
                    <a:solidFill>
                      <a:srgbClr val="161E31"/>
                    </a:solidFill>
                  </a:tcPr>
                </a:tc>
              </a:tr>
              <a:tr h="548640">
                <a:tc>
                  <a:txBody>
                    <a:bodyPr/>
                    <a:lstStyle/>
                    <a:p>
                      <a:pPr>
                        <a:defRPr sz="950" b="0">
                          <a:solidFill>
                            <a:srgbClr val="E2E8F0"/>
                          </a:solidFill>
                        </a:defRPr>
                      </a:pPr>
                      <a:r>
                        <a:t>ASC-US (Atípico)</a:t>
                      </a:r>
                    </a:p>
                  </a:txBody>
                  <a:tcPr>
                    <a:solidFill>
                      <a:srgbClr val="141D30"/>
                    </a:solidFill>
                  </a:tcPr>
                </a:tc>
                <a:tc>
                  <a:txBody>
                    <a:bodyPr/>
                    <a:lstStyle/>
                    <a:p>
                      <a:pPr>
                        <a:defRPr sz="950" b="0">
                          <a:solidFill>
                            <a:srgbClr val="E2E8F0"/>
                          </a:solidFill>
                        </a:defRPr>
                      </a:pPr>
                      <a:r>
                        <a:t>388</a:t>
                      </a:r>
                    </a:p>
                  </a:txBody>
                  <a:tcPr>
                    <a:solidFill>
                      <a:srgbClr val="141D30"/>
                    </a:solidFill>
                  </a:tcPr>
                </a:tc>
                <a:tc>
                  <a:txBody>
                    <a:bodyPr/>
                    <a:lstStyle/>
                    <a:p>
                      <a:pPr>
                        <a:defRPr sz="950" b="0">
                          <a:solidFill>
                            <a:srgbClr val="E2E8F0"/>
                          </a:solidFill>
                        </a:defRPr>
                      </a:pPr>
                      <a:r>
                        <a:t>122</a:t>
                      </a:r>
                    </a:p>
                  </a:txBody>
                  <a:tcPr>
                    <a:solidFill>
                      <a:srgbClr val="141D30"/>
                    </a:solidFill>
                  </a:tcPr>
                </a:tc>
                <a:tc>
                  <a:txBody>
                    <a:bodyPr/>
                    <a:lstStyle/>
                    <a:p>
                      <a:pPr>
                        <a:defRPr sz="950" b="0">
                          <a:solidFill>
                            <a:srgbClr val="E2E8F0"/>
                          </a:solidFill>
                        </a:defRPr>
                      </a:pPr>
                      <a:r>
                        <a:t>96</a:t>
                      </a:r>
                    </a:p>
                  </a:txBody>
                  <a:tcPr>
                    <a:solidFill>
                      <a:srgbClr val="141D30"/>
                    </a:solidFill>
                  </a:tcPr>
                </a:tc>
                <a:tc>
                  <a:txBody>
                    <a:bodyPr/>
                    <a:lstStyle/>
                    <a:p>
                      <a:pPr>
                        <a:defRPr sz="950" b="0">
                          <a:solidFill>
                            <a:srgbClr val="E2E8F0"/>
                          </a:solidFill>
                        </a:defRPr>
                      </a:pPr>
                      <a:r>
                        <a:t>606</a:t>
                      </a:r>
                    </a:p>
                  </a:txBody>
                  <a:tcPr>
                    <a:solidFill>
                      <a:srgbClr val="141D30"/>
                    </a:solidFill>
                  </a:tcPr>
                </a:tc>
              </a:tr>
              <a:tr h="548640">
                <a:tc>
                  <a:txBody>
                    <a:bodyPr/>
                    <a:lstStyle/>
                    <a:p>
                      <a:pPr>
                        <a:defRPr sz="950" b="0">
                          <a:solidFill>
                            <a:srgbClr val="E2E8F0"/>
                          </a:solidFill>
                        </a:defRPr>
                      </a:pPr>
                      <a:r>
                        <a:t>SCC (Carcinoma)</a:t>
                      </a:r>
                    </a:p>
                  </a:txBody>
                  <a:tcPr>
                    <a:solidFill>
                      <a:srgbClr val="161E31"/>
                    </a:solidFill>
                  </a:tcPr>
                </a:tc>
                <a:tc>
                  <a:txBody>
                    <a:bodyPr/>
                    <a:lstStyle/>
                    <a:p>
                      <a:pPr>
                        <a:defRPr sz="950" b="0">
                          <a:solidFill>
                            <a:srgbClr val="E2E8F0"/>
                          </a:solidFill>
                        </a:defRPr>
                      </a:pPr>
                      <a:r>
                        <a:t>103</a:t>
                      </a:r>
                    </a:p>
                  </a:txBody>
                  <a:tcPr>
                    <a:solidFill>
                      <a:srgbClr val="161E31"/>
                    </a:solidFill>
                  </a:tcPr>
                </a:tc>
                <a:tc>
                  <a:txBody>
                    <a:bodyPr/>
                    <a:lstStyle/>
                    <a:p>
                      <a:pPr>
                        <a:defRPr sz="950" b="0">
                          <a:solidFill>
                            <a:srgbClr val="E2E8F0"/>
                          </a:solidFill>
                        </a:defRPr>
                      </a:pPr>
                      <a:r>
                        <a:t>33</a:t>
                      </a:r>
                    </a:p>
                  </a:txBody>
                  <a:tcPr>
                    <a:solidFill>
                      <a:srgbClr val="161E31"/>
                    </a:solidFill>
                  </a:tcPr>
                </a:tc>
                <a:tc>
                  <a:txBody>
                    <a:bodyPr/>
                    <a:lstStyle/>
                    <a:p>
                      <a:pPr>
                        <a:defRPr sz="950" b="0">
                          <a:solidFill>
                            <a:srgbClr val="E2E8F0"/>
                          </a:solidFill>
                        </a:defRPr>
                      </a:pPr>
                      <a:r>
                        <a:t>25</a:t>
                      </a:r>
                    </a:p>
                  </a:txBody>
                  <a:tcPr>
                    <a:solidFill>
                      <a:srgbClr val="161E31"/>
                    </a:solidFill>
                  </a:tcPr>
                </a:tc>
                <a:tc>
                  <a:txBody>
                    <a:bodyPr/>
                    <a:lstStyle/>
                    <a:p>
                      <a:pPr>
                        <a:defRPr sz="950" b="0">
                          <a:solidFill>
                            <a:srgbClr val="E2E8F0"/>
                          </a:solidFill>
                        </a:defRPr>
                      </a:pPr>
                      <a:r>
                        <a:t>161</a:t>
                      </a:r>
                    </a:p>
                  </a:txBody>
                  <a:tcPr>
                    <a:solidFill>
                      <a:srgbClr val="161E31"/>
                    </a:solidFill>
                  </a:tcPr>
                </a:tc>
              </a:tr>
            </a:tbl>
          </a:graphicData>
        </a:graphic>
      </p:graphicFrame>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2 • BALANCEAMENTO HÍBRIDO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2  |  ⏱️ 15:15 - 16:30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Estratégia Híbrida de Balanceamento de Dados</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Oversampling com Albumentations e Undersampling Fixados em 1.000 Amostras</a:t>
            </a:r>
          </a:p>
        </p:txBody>
      </p:sp>
      <p:sp>
        <p:nvSpPr>
          <p:cNvPr id="7" name="TextBox 6"/>
          <p:cNvSpPr txBox="1"/>
          <p:nvPr/>
        </p:nvSpPr>
        <p:spPr>
          <a:xfrm>
            <a:off x="731520" y="1965960"/>
            <a:ext cx="10698480" cy="411480"/>
          </a:xfrm>
          <a:prstGeom prst="rect">
            <a:avLst/>
          </a:prstGeom>
          <a:noFill/>
        </p:spPr>
        <p:txBody>
          <a:bodyPr wrap="square">
            <a:spAutoFit/>
          </a:bodyPr>
          <a:lstStyle/>
          <a:p>
            <a:pPr>
              <a:defRPr sz="1200">
                <a:solidFill>
                  <a:srgbClr val="E2E8F0"/>
                </a:solidFill>
              </a:defRPr>
            </a:pPr>
            <a:r>
              <a:t>Validação e teste intactos com a proporção clínica original!</a:t>
            </a:r>
          </a:p>
        </p:txBody>
      </p:sp>
      <p:graphicFrame>
        <p:nvGraphicFramePr>
          <p:cNvPr id="8" name="Table 7"/>
          <p:cNvGraphicFramePr>
            <a:graphicFrameLocks noGrp="1"/>
          </p:cNvGraphicFramePr>
          <p:nvPr/>
        </p:nvGraphicFramePr>
        <p:xfrm>
          <a:off x="731520" y="2377440"/>
          <a:ext cx="10698480" cy="3840480"/>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480060">
                <a:tc>
                  <a:txBody>
                    <a:bodyPr/>
                    <a:lstStyle/>
                    <a:p>
                      <a:pPr>
                        <a:defRPr sz="1000" b="1">
                          <a:solidFill>
                            <a:srgbClr val="38BDF8"/>
                          </a:solidFill>
                        </a:defRPr>
                      </a:pPr>
                      <a:r>
                        <a:t>Classe</a:t>
                      </a:r>
                    </a:p>
                  </a:txBody>
                  <a:tcPr>
                    <a:solidFill>
                      <a:srgbClr val="1E293B"/>
                    </a:solidFill>
                  </a:tcPr>
                </a:tc>
                <a:tc>
                  <a:txBody>
                    <a:bodyPr/>
                    <a:lstStyle/>
                    <a:p>
                      <a:pPr>
                        <a:defRPr sz="1000" b="1">
                          <a:solidFill>
                            <a:srgbClr val="38BDF8"/>
                          </a:solidFill>
                        </a:defRPr>
                      </a:pPr>
                      <a:r>
                        <a:t>Treino Antes</a:t>
                      </a:r>
                    </a:p>
                  </a:txBody>
                  <a:tcPr>
                    <a:solidFill>
                      <a:srgbClr val="1E293B"/>
                    </a:solidFill>
                  </a:tcPr>
                </a:tc>
                <a:tc>
                  <a:txBody>
                    <a:bodyPr/>
                    <a:lstStyle/>
                    <a:p>
                      <a:pPr>
                        <a:defRPr sz="1000" b="1">
                          <a:solidFill>
                            <a:srgbClr val="38BDF8"/>
                          </a:solidFill>
                        </a:defRPr>
                      </a:pPr>
                      <a:r>
                        <a:t>Treino Ajustado</a:t>
                      </a:r>
                    </a:p>
                  </a:txBody>
                  <a:tcPr>
                    <a:solidFill>
                      <a:srgbClr val="1E293B"/>
                    </a:solidFill>
                  </a:tcPr>
                </a:tc>
                <a:tc>
                  <a:txBody>
                    <a:bodyPr/>
                    <a:lstStyle/>
                    <a:p>
                      <a:pPr>
                        <a:defRPr sz="1000" b="1">
                          <a:solidFill>
                            <a:srgbClr val="38BDF8"/>
                          </a:solidFill>
                        </a:defRPr>
                      </a:pPr>
                      <a:r>
                        <a:t>Validação</a:t>
                      </a:r>
                    </a:p>
                  </a:txBody>
                  <a:tcPr>
                    <a:solidFill>
                      <a:srgbClr val="1E293B"/>
                    </a:solidFill>
                  </a:tcPr>
                </a:tc>
                <a:tc>
                  <a:txBody>
                    <a:bodyPr/>
                    <a:lstStyle/>
                    <a:p>
                      <a:pPr>
                        <a:defRPr sz="1000" b="1">
                          <a:solidFill>
                            <a:srgbClr val="38BDF8"/>
                          </a:solidFill>
                        </a:defRPr>
                      </a:pPr>
                      <a:r>
                        <a:t>Teste</a:t>
                      </a:r>
                    </a:p>
                  </a:txBody>
                  <a:tcPr>
                    <a:solidFill>
                      <a:srgbClr val="1E293B"/>
                    </a:solidFill>
                  </a:tcPr>
                </a:tc>
              </a:tr>
              <a:tr h="480060">
                <a:tc>
                  <a:txBody>
                    <a:bodyPr/>
                    <a:lstStyle/>
                    <a:p>
                      <a:pPr>
                        <a:defRPr sz="950" b="0">
                          <a:solidFill>
                            <a:srgbClr val="E2E8F0"/>
                          </a:solidFill>
                        </a:defRPr>
                      </a:pPr>
                      <a:r>
                        <a:t>ASC-H</a:t>
                      </a:r>
                    </a:p>
                  </a:txBody>
                  <a:tcPr>
                    <a:solidFill>
                      <a:srgbClr val="141D30"/>
                    </a:solidFill>
                  </a:tcPr>
                </a:tc>
                <a:tc>
                  <a:txBody>
                    <a:bodyPr/>
                    <a:lstStyle/>
                    <a:p>
                      <a:pPr>
                        <a:defRPr sz="950" b="0">
                          <a:solidFill>
                            <a:srgbClr val="E2E8F0"/>
                          </a:solidFill>
                        </a:defRPr>
                      </a:pPr>
                      <a:r>
                        <a:t>592</a:t>
                      </a:r>
                    </a:p>
                  </a:txBody>
                  <a:tcPr>
                    <a:solidFill>
                      <a:srgbClr val="141D30"/>
                    </a:solidFill>
                  </a:tcPr>
                </a:tc>
                <a:tc>
                  <a:txBody>
                    <a:bodyPr/>
                    <a:lstStyle/>
                    <a:p>
                      <a:pPr>
                        <a:defRPr sz="950" b="0">
                          <a:solidFill>
                            <a:srgbClr val="E2E8F0"/>
                          </a:solidFill>
                        </a:defRPr>
                      </a:pPr>
                      <a:r>
                        <a:t>1.000 (Oversampling)</a:t>
                      </a:r>
                    </a:p>
                  </a:txBody>
                  <a:tcPr>
                    <a:solidFill>
                      <a:srgbClr val="141D30"/>
                    </a:solidFill>
                  </a:tcPr>
                </a:tc>
                <a:tc>
                  <a:txBody>
                    <a:bodyPr/>
                    <a:lstStyle/>
                    <a:p>
                      <a:pPr>
                        <a:defRPr sz="950" b="0">
                          <a:solidFill>
                            <a:srgbClr val="E2E8F0"/>
                          </a:solidFill>
                        </a:defRPr>
                      </a:pPr>
                      <a:r>
                        <a:t>185</a:t>
                      </a:r>
                    </a:p>
                  </a:txBody>
                  <a:tcPr>
                    <a:solidFill>
                      <a:srgbClr val="141D30"/>
                    </a:solidFill>
                  </a:tcPr>
                </a:tc>
                <a:tc>
                  <a:txBody>
                    <a:bodyPr/>
                    <a:lstStyle/>
                    <a:p>
                      <a:pPr>
                        <a:defRPr sz="950" b="0">
                          <a:solidFill>
                            <a:srgbClr val="E2E8F0"/>
                          </a:solidFill>
                        </a:defRPr>
                      </a:pPr>
                      <a:r>
                        <a:t>148</a:t>
                      </a:r>
                    </a:p>
                  </a:txBody>
                  <a:tcPr>
                    <a:solidFill>
                      <a:srgbClr val="141D30"/>
                    </a:solidFill>
                  </a:tcPr>
                </a:tc>
              </a:tr>
              <a:tr h="480060">
                <a:tc>
                  <a:txBody>
                    <a:bodyPr/>
                    <a:lstStyle/>
                    <a:p>
                      <a:pPr>
                        <a:defRPr sz="950" b="0">
                          <a:solidFill>
                            <a:srgbClr val="E2E8F0"/>
                          </a:solidFill>
                        </a:defRPr>
                      </a:pPr>
                      <a:r>
                        <a:t>ASC-US</a:t>
                      </a:r>
                    </a:p>
                  </a:txBody>
                  <a:tcPr>
                    <a:solidFill>
                      <a:srgbClr val="161E31"/>
                    </a:solidFill>
                  </a:tcPr>
                </a:tc>
                <a:tc>
                  <a:txBody>
                    <a:bodyPr/>
                    <a:lstStyle/>
                    <a:p>
                      <a:pPr>
                        <a:defRPr sz="950" b="0">
                          <a:solidFill>
                            <a:srgbClr val="E2E8F0"/>
                          </a:solidFill>
                        </a:defRPr>
                      </a:pPr>
                      <a:r>
                        <a:t>388</a:t>
                      </a:r>
                    </a:p>
                  </a:txBody>
                  <a:tcPr>
                    <a:solidFill>
                      <a:srgbClr val="161E31"/>
                    </a:solidFill>
                  </a:tcPr>
                </a:tc>
                <a:tc>
                  <a:txBody>
                    <a:bodyPr/>
                    <a:lstStyle/>
                    <a:p>
                      <a:pPr>
                        <a:defRPr sz="950" b="0">
                          <a:solidFill>
                            <a:srgbClr val="E2E8F0"/>
                          </a:solidFill>
                        </a:defRPr>
                      </a:pPr>
                      <a:r>
                        <a:t>1.000 (Oversampling)</a:t>
                      </a:r>
                    </a:p>
                  </a:txBody>
                  <a:tcPr>
                    <a:solidFill>
                      <a:srgbClr val="161E31"/>
                    </a:solidFill>
                  </a:tcPr>
                </a:tc>
                <a:tc>
                  <a:txBody>
                    <a:bodyPr/>
                    <a:lstStyle/>
                    <a:p>
                      <a:pPr>
                        <a:defRPr sz="950" b="0">
                          <a:solidFill>
                            <a:srgbClr val="E2E8F0"/>
                          </a:solidFill>
                        </a:defRPr>
                      </a:pPr>
                      <a:r>
                        <a:t>122</a:t>
                      </a:r>
                    </a:p>
                  </a:txBody>
                  <a:tcPr>
                    <a:solidFill>
                      <a:srgbClr val="161E31"/>
                    </a:solidFill>
                  </a:tcPr>
                </a:tc>
                <a:tc>
                  <a:txBody>
                    <a:bodyPr/>
                    <a:lstStyle/>
                    <a:p>
                      <a:pPr>
                        <a:defRPr sz="950" b="0">
                          <a:solidFill>
                            <a:srgbClr val="E2E8F0"/>
                          </a:solidFill>
                        </a:defRPr>
                      </a:pPr>
                      <a:r>
                        <a:t>96</a:t>
                      </a:r>
                    </a:p>
                  </a:txBody>
                  <a:tcPr>
                    <a:solidFill>
                      <a:srgbClr val="161E31"/>
                    </a:solidFill>
                  </a:tcPr>
                </a:tc>
              </a:tr>
              <a:tr h="480060">
                <a:tc>
                  <a:txBody>
                    <a:bodyPr/>
                    <a:lstStyle/>
                    <a:p>
                      <a:pPr>
                        <a:defRPr sz="950" b="0">
                          <a:solidFill>
                            <a:srgbClr val="E2E8F0"/>
                          </a:solidFill>
                        </a:defRPr>
                      </a:pPr>
                      <a:r>
                        <a:t>HSIL</a:t>
                      </a:r>
                    </a:p>
                  </a:txBody>
                  <a:tcPr>
                    <a:solidFill>
                      <a:srgbClr val="141D30"/>
                    </a:solidFill>
                  </a:tcPr>
                </a:tc>
                <a:tc>
                  <a:txBody>
                    <a:bodyPr/>
                    <a:lstStyle/>
                    <a:p>
                      <a:pPr>
                        <a:defRPr sz="950" b="0">
                          <a:solidFill>
                            <a:srgbClr val="E2E8F0"/>
                          </a:solidFill>
                        </a:defRPr>
                      </a:pPr>
                      <a:r>
                        <a:t>1.090</a:t>
                      </a:r>
                    </a:p>
                  </a:txBody>
                  <a:tcPr>
                    <a:solidFill>
                      <a:srgbClr val="141D30"/>
                    </a:solidFill>
                  </a:tcPr>
                </a:tc>
                <a:tc>
                  <a:txBody>
                    <a:bodyPr/>
                    <a:lstStyle/>
                    <a:p>
                      <a:pPr>
                        <a:defRPr sz="950" b="0">
                          <a:solidFill>
                            <a:srgbClr val="E2E8F0"/>
                          </a:solidFill>
                        </a:defRPr>
                      </a:pPr>
                      <a:r>
                        <a:t>1.000 (Undersampling)</a:t>
                      </a:r>
                    </a:p>
                  </a:txBody>
                  <a:tcPr>
                    <a:solidFill>
                      <a:srgbClr val="141D30"/>
                    </a:solidFill>
                  </a:tcPr>
                </a:tc>
                <a:tc>
                  <a:txBody>
                    <a:bodyPr/>
                    <a:lstStyle/>
                    <a:p>
                      <a:pPr>
                        <a:defRPr sz="950" b="0">
                          <a:solidFill>
                            <a:srgbClr val="E2E8F0"/>
                          </a:solidFill>
                        </a:defRPr>
                      </a:pPr>
                      <a:r>
                        <a:t>341</a:t>
                      </a:r>
                    </a:p>
                  </a:txBody>
                  <a:tcPr>
                    <a:solidFill>
                      <a:srgbClr val="141D30"/>
                    </a:solidFill>
                  </a:tcPr>
                </a:tc>
                <a:tc>
                  <a:txBody>
                    <a:bodyPr/>
                    <a:lstStyle/>
                    <a:p>
                      <a:pPr>
                        <a:defRPr sz="950" b="0">
                          <a:solidFill>
                            <a:srgbClr val="E2E8F0"/>
                          </a:solidFill>
                        </a:defRPr>
                      </a:pPr>
                      <a:r>
                        <a:t>272</a:t>
                      </a:r>
                    </a:p>
                  </a:txBody>
                  <a:tcPr>
                    <a:solidFill>
                      <a:srgbClr val="141D30"/>
                    </a:solidFill>
                  </a:tcPr>
                </a:tc>
              </a:tr>
              <a:tr h="480060">
                <a:tc>
                  <a:txBody>
                    <a:bodyPr/>
                    <a:lstStyle/>
                    <a:p>
                      <a:pPr>
                        <a:defRPr sz="950" b="0">
                          <a:solidFill>
                            <a:srgbClr val="E2E8F0"/>
                          </a:solidFill>
                        </a:defRPr>
                      </a:pPr>
                      <a:r>
                        <a:t>LSIL</a:t>
                      </a:r>
                    </a:p>
                  </a:txBody>
                  <a:tcPr>
                    <a:solidFill>
                      <a:srgbClr val="161E31"/>
                    </a:solidFill>
                  </a:tcPr>
                </a:tc>
                <a:tc>
                  <a:txBody>
                    <a:bodyPr/>
                    <a:lstStyle/>
                    <a:p>
                      <a:pPr>
                        <a:defRPr sz="950" b="0">
                          <a:solidFill>
                            <a:srgbClr val="E2E8F0"/>
                          </a:solidFill>
                        </a:defRPr>
                      </a:pPr>
                      <a:r>
                        <a:t>871</a:t>
                      </a:r>
                    </a:p>
                  </a:txBody>
                  <a:tcPr>
                    <a:solidFill>
                      <a:srgbClr val="161E31"/>
                    </a:solidFill>
                  </a:tcPr>
                </a:tc>
                <a:tc>
                  <a:txBody>
                    <a:bodyPr/>
                    <a:lstStyle/>
                    <a:p>
                      <a:pPr>
                        <a:defRPr sz="950" b="0">
                          <a:solidFill>
                            <a:srgbClr val="E2E8F0"/>
                          </a:solidFill>
                        </a:defRPr>
                      </a:pPr>
                      <a:r>
                        <a:t>1.000 (Oversampling)</a:t>
                      </a:r>
                    </a:p>
                  </a:txBody>
                  <a:tcPr>
                    <a:solidFill>
                      <a:srgbClr val="161E31"/>
                    </a:solidFill>
                  </a:tcPr>
                </a:tc>
                <a:tc>
                  <a:txBody>
                    <a:bodyPr/>
                    <a:lstStyle/>
                    <a:p>
                      <a:pPr>
                        <a:defRPr sz="950" b="0">
                          <a:solidFill>
                            <a:srgbClr val="E2E8F0"/>
                          </a:solidFill>
                        </a:defRPr>
                      </a:pPr>
                      <a:r>
                        <a:t>272</a:t>
                      </a:r>
                    </a:p>
                  </a:txBody>
                  <a:tcPr>
                    <a:solidFill>
                      <a:srgbClr val="161E31"/>
                    </a:solidFill>
                  </a:tcPr>
                </a:tc>
                <a:tc>
                  <a:txBody>
                    <a:bodyPr/>
                    <a:lstStyle/>
                    <a:p>
                      <a:pPr>
                        <a:defRPr sz="950" b="0">
                          <a:solidFill>
                            <a:srgbClr val="E2E8F0"/>
                          </a:solidFill>
                        </a:defRPr>
                      </a:pPr>
                      <a:r>
                        <a:t>217</a:t>
                      </a:r>
                    </a:p>
                  </a:txBody>
                  <a:tcPr>
                    <a:solidFill>
                      <a:srgbClr val="161E31"/>
                    </a:solidFill>
                  </a:tcPr>
                </a:tc>
              </a:tr>
              <a:tr h="480060">
                <a:tc>
                  <a:txBody>
                    <a:bodyPr/>
                    <a:lstStyle/>
                    <a:p>
                      <a:pPr>
                        <a:defRPr sz="950" b="0">
                          <a:solidFill>
                            <a:srgbClr val="E2E8F0"/>
                          </a:solidFill>
                        </a:defRPr>
                      </a:pPr>
                      <a:r>
                        <a:t>NFIL</a:t>
                      </a:r>
                    </a:p>
                  </a:txBody>
                  <a:tcPr>
                    <a:solidFill>
                      <a:srgbClr val="141D30"/>
                    </a:solidFill>
                  </a:tcPr>
                </a:tc>
                <a:tc>
                  <a:txBody>
                    <a:bodyPr/>
                    <a:lstStyle/>
                    <a:p>
                      <a:pPr>
                        <a:defRPr sz="950" b="0">
                          <a:solidFill>
                            <a:srgbClr val="E2E8F0"/>
                          </a:solidFill>
                        </a:defRPr>
                      </a:pPr>
                      <a:r>
                        <a:t>4.339</a:t>
                      </a:r>
                    </a:p>
                  </a:txBody>
                  <a:tcPr>
                    <a:solidFill>
                      <a:srgbClr val="141D30"/>
                    </a:solidFill>
                  </a:tcPr>
                </a:tc>
                <a:tc>
                  <a:txBody>
                    <a:bodyPr/>
                    <a:lstStyle/>
                    <a:p>
                      <a:pPr>
                        <a:defRPr sz="950" b="0">
                          <a:solidFill>
                            <a:srgbClr val="E2E8F0"/>
                          </a:solidFill>
                        </a:defRPr>
                      </a:pPr>
                      <a:r>
                        <a:t>1.000 (Undersampling)</a:t>
                      </a:r>
                    </a:p>
                  </a:txBody>
                  <a:tcPr>
                    <a:solidFill>
                      <a:srgbClr val="141D30"/>
                    </a:solidFill>
                  </a:tcPr>
                </a:tc>
                <a:tc>
                  <a:txBody>
                    <a:bodyPr/>
                    <a:lstStyle/>
                    <a:p>
                      <a:pPr>
                        <a:defRPr sz="950" b="0">
                          <a:solidFill>
                            <a:srgbClr val="E2E8F0"/>
                          </a:solidFill>
                        </a:defRPr>
                      </a:pPr>
                      <a:r>
                        <a:t>1.356</a:t>
                      </a:r>
                    </a:p>
                  </a:txBody>
                  <a:tcPr>
                    <a:solidFill>
                      <a:srgbClr val="141D30"/>
                    </a:solidFill>
                  </a:tcPr>
                </a:tc>
                <a:tc>
                  <a:txBody>
                    <a:bodyPr/>
                    <a:lstStyle/>
                    <a:p>
                      <a:pPr>
                        <a:defRPr sz="950" b="0">
                          <a:solidFill>
                            <a:srgbClr val="E2E8F0"/>
                          </a:solidFill>
                        </a:defRPr>
                      </a:pPr>
                      <a:r>
                        <a:t>1.084</a:t>
                      </a:r>
                    </a:p>
                  </a:txBody>
                  <a:tcPr>
                    <a:solidFill>
                      <a:srgbClr val="141D30"/>
                    </a:solidFill>
                  </a:tcPr>
                </a:tc>
              </a:tr>
              <a:tr h="480060">
                <a:tc>
                  <a:txBody>
                    <a:bodyPr/>
                    <a:lstStyle/>
                    <a:p>
                      <a:pPr>
                        <a:defRPr sz="950" b="0">
                          <a:solidFill>
                            <a:srgbClr val="E2E8F0"/>
                          </a:solidFill>
                        </a:defRPr>
                      </a:pPr>
                      <a:r>
                        <a:t>SCC</a:t>
                      </a:r>
                    </a:p>
                  </a:txBody>
                  <a:tcPr>
                    <a:solidFill>
                      <a:srgbClr val="161E31"/>
                    </a:solidFill>
                  </a:tcPr>
                </a:tc>
                <a:tc>
                  <a:txBody>
                    <a:bodyPr/>
                    <a:lstStyle/>
                    <a:p>
                      <a:pPr>
                        <a:defRPr sz="950" b="0">
                          <a:solidFill>
                            <a:srgbClr val="E2E8F0"/>
                          </a:solidFill>
                        </a:defRPr>
                      </a:pPr>
                      <a:r>
                        <a:t>103</a:t>
                      </a:r>
                    </a:p>
                  </a:txBody>
                  <a:tcPr>
                    <a:solidFill>
                      <a:srgbClr val="161E31"/>
                    </a:solidFill>
                  </a:tcPr>
                </a:tc>
                <a:tc>
                  <a:txBody>
                    <a:bodyPr/>
                    <a:lstStyle/>
                    <a:p>
                      <a:pPr>
                        <a:defRPr sz="950" b="0">
                          <a:solidFill>
                            <a:srgbClr val="E2E8F0"/>
                          </a:solidFill>
                        </a:defRPr>
                      </a:pPr>
                      <a:r>
                        <a:t>1.000 (Oversampling)</a:t>
                      </a:r>
                    </a:p>
                  </a:txBody>
                  <a:tcPr>
                    <a:solidFill>
                      <a:srgbClr val="161E31"/>
                    </a:solidFill>
                  </a:tcPr>
                </a:tc>
                <a:tc>
                  <a:txBody>
                    <a:bodyPr/>
                    <a:lstStyle/>
                    <a:p>
                      <a:pPr>
                        <a:defRPr sz="950" b="0">
                          <a:solidFill>
                            <a:srgbClr val="E2E8F0"/>
                          </a:solidFill>
                        </a:defRPr>
                      </a:pPr>
                      <a:r>
                        <a:t>33</a:t>
                      </a:r>
                    </a:p>
                  </a:txBody>
                  <a:tcPr>
                    <a:solidFill>
                      <a:srgbClr val="161E31"/>
                    </a:solidFill>
                  </a:tcPr>
                </a:tc>
                <a:tc>
                  <a:txBody>
                    <a:bodyPr/>
                    <a:lstStyle/>
                    <a:p>
                      <a:pPr>
                        <a:defRPr sz="950" b="0">
                          <a:solidFill>
                            <a:srgbClr val="E2E8F0"/>
                          </a:solidFill>
                        </a:defRPr>
                      </a:pPr>
                      <a:r>
                        <a:t>25</a:t>
                      </a:r>
                    </a:p>
                  </a:txBody>
                  <a:tcPr>
                    <a:solidFill>
                      <a:srgbClr val="161E31"/>
                    </a:solidFill>
                  </a:tcPr>
                </a:tc>
              </a:tr>
              <a:tr h="480060">
                <a:tc>
                  <a:txBody>
                    <a:bodyPr/>
                    <a:lstStyle/>
                    <a:p>
                      <a:pPr>
                        <a:defRPr sz="950" b="0">
                          <a:solidFill>
                            <a:srgbClr val="E2E8F0"/>
                          </a:solidFill>
                        </a:defRPr>
                      </a:pPr>
                      <a:r>
                        <a:t>Total</a:t>
                      </a:r>
                    </a:p>
                  </a:txBody>
                  <a:tcPr>
                    <a:solidFill>
                      <a:srgbClr val="141D30"/>
                    </a:solidFill>
                  </a:tcPr>
                </a:tc>
                <a:tc>
                  <a:txBody>
                    <a:bodyPr/>
                    <a:lstStyle/>
                    <a:p>
                      <a:pPr>
                        <a:defRPr sz="950" b="0">
                          <a:solidFill>
                            <a:srgbClr val="E2E8F0"/>
                          </a:solidFill>
                        </a:defRPr>
                      </a:pPr>
                      <a:r>
                        <a:t>7.383</a:t>
                      </a:r>
                    </a:p>
                  </a:txBody>
                  <a:tcPr>
                    <a:solidFill>
                      <a:srgbClr val="141D30"/>
                    </a:solidFill>
                  </a:tcPr>
                </a:tc>
                <a:tc>
                  <a:txBody>
                    <a:bodyPr/>
                    <a:lstStyle/>
                    <a:p>
                      <a:pPr>
                        <a:defRPr sz="950" b="0">
                          <a:solidFill>
                            <a:srgbClr val="E2E8F0"/>
                          </a:solidFill>
                        </a:defRPr>
                      </a:pPr>
                      <a:r>
                        <a:t>6.000</a:t>
                      </a:r>
                    </a:p>
                  </a:txBody>
                  <a:tcPr>
                    <a:solidFill>
                      <a:srgbClr val="141D30"/>
                    </a:solidFill>
                  </a:tcPr>
                </a:tc>
                <a:tc>
                  <a:txBody>
                    <a:bodyPr/>
                    <a:lstStyle/>
                    <a:p>
                      <a:pPr>
                        <a:defRPr sz="950" b="0">
                          <a:solidFill>
                            <a:srgbClr val="E2E8F0"/>
                          </a:solidFill>
                        </a:defRPr>
                      </a:pPr>
                      <a:r>
                        <a:t>2.309</a:t>
                      </a:r>
                    </a:p>
                  </a:txBody>
                  <a:tcPr>
                    <a:solidFill>
                      <a:srgbClr val="141D30"/>
                    </a:solidFill>
                  </a:tcPr>
                </a:tc>
                <a:tc>
                  <a:txBody>
                    <a:bodyPr/>
                    <a:lstStyle/>
                    <a:p>
                      <a:pPr>
                        <a:defRPr sz="950" b="0">
                          <a:solidFill>
                            <a:srgbClr val="E2E8F0"/>
                          </a:solidFill>
                        </a:defRPr>
                      </a:pPr>
                      <a:r>
                        <a:t>1.842</a:t>
                      </a:r>
                    </a:p>
                  </a:txBody>
                  <a:tcPr>
                    <a:solidFill>
                      <a:srgbClr val="141D30"/>
                    </a:solidFill>
                  </a:tcPr>
                </a:tc>
              </a:tr>
            </a:tbl>
          </a:graphicData>
        </a:graphic>
      </p:graphicFrame>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2 • ARQUITETURA DO MODELO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2  |  ⏱️ 16:30 - 17:45</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Fundamentos dos Vision Transformers (ViT)</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Autoatenção Global Multi-Head e Processamento em Sequência de Tokens</a:t>
            </a:r>
          </a:p>
        </p:txBody>
      </p:sp>
      <p:sp>
        <p:nvSpPr>
          <p:cNvPr id="7" name="Rounded Rectangle 6"/>
          <p:cNvSpPr/>
          <p:nvPr/>
        </p:nvSpPr>
        <p:spPr>
          <a:xfrm>
            <a:off x="731520" y="1965960"/>
            <a:ext cx="52120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Fatiamento da Imagem: Imagem $224 \times 224$ dividida em $N = 196$ patches de $16 \times 16 \times 3$ pixels ($14 \times 14$ grid).</a:t>
            </a:r>
          </a:p>
          <a:p>
            <a:pPr>
              <a:spcBef>
                <a:spcPts val="300"/>
              </a:spcBef>
              <a:defRPr sz="1100">
                <a:solidFill>
                  <a:srgbClr val="E2E8F0"/>
                </a:solidFill>
              </a:defRPr>
            </a:pPr>
            <a:r>
              <a:t>• Autoatenção Multi-Head (MHSA): Attention(Q, K, V) = softmax( (Q * K^T) / √d_k ) * V</a:t>
            </a:r>
          </a:p>
          <a:p>
            <a:pPr>
              <a:spcBef>
                <a:spcPts val="300"/>
              </a:spcBef>
              <a:defRPr sz="1100">
                <a:solidFill>
                  <a:srgbClr val="E2E8F0"/>
                </a:solidFill>
              </a:defRPr>
            </a:pPr>
            <a:r>
              <a:t>• Cada token de patch interage com todos os outros 195 tokens simultaneamente.</a:t>
            </a:r>
          </a:p>
          <a:p>
            <a:pPr>
              <a:spcBef>
                <a:spcPts val="300"/>
              </a:spcBef>
              <a:defRPr sz="1100">
                <a:solidFill>
                  <a:srgbClr val="E2E8F0"/>
                </a:solidFill>
              </a:defRPr>
            </a:pPr>
            <a:r>
              <a:t>• Complexidade Quadrática $\mathcal{O}(N^2)$: $196 \times 196 = 38.416$ correlações por cabeça em cada bloco do codificador!</a:t>
            </a:r>
          </a:p>
          <a:p>
            <a:pPr>
              <a:spcBef>
                <a:spcPts val="300"/>
              </a:spcBef>
              <a:defRPr sz="1100">
                <a:solidFill>
                  <a:srgbClr val="E2E8F0"/>
                </a:solidFill>
              </a:defRPr>
            </a:pPr>
            <a:r>
              <a:t>• Token [CLS] e Positional Embeddings: Adição de um vetor especial de classificação e vetores 1D de posição para suprir a ausência de ordem intrínseca.</a:t>
            </a:r>
          </a:p>
        </p:txBody>
      </p:sp>
      <p:sp>
        <p:nvSpPr>
          <p:cNvPr id="8" name="Rounded Rectangle 7"/>
          <p:cNvSpPr/>
          <p:nvPr/>
        </p:nvSpPr>
        <p:spPr>
          <a:xfrm>
            <a:off x="62179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2 • ENGENHARIA DE EMBEDDINGS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2  |  ⏱️ 17:45 - 19:00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Projeção Linear vs. Projeção Convolucional</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O Resgate do Viés Indutivo de Localidade Através de Camadas Conv2D</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Os pixels do patch $16 \times 16 \times 3$ (768 valores) são vetorizados linearmente: x_p \in \mathbb{R}^{768} \implies z_0 = x_p \cdot E</a:t>
            </a:r>
          </a:p>
          <a:p>
            <a:pPr>
              <a:spcBef>
                <a:spcPts val="300"/>
              </a:spcBef>
              <a:defRPr sz="1100">
                <a:solidFill>
                  <a:srgbClr val="E2E8F0"/>
                </a:solidFill>
              </a:defRPr>
            </a:pPr>
            <a:r>
              <a:t>• Matriz de pesos lineares $E \in \mathbb{R}^{768 \times D}$.</a:t>
            </a:r>
          </a:p>
          <a:p>
            <a:pPr>
              <a:spcBef>
                <a:spcPts val="300"/>
              </a:spcBef>
              <a:defRPr sz="1100">
                <a:solidFill>
                  <a:srgbClr val="E2E8F0"/>
                </a:solidFill>
              </a:defRPr>
            </a:pPr>
            <a:r>
              <a:t>• Ausência Completa de Viés Espacial: O modelo precisa aprender correlações entre pixels vizinhos estritamente através dos gradientes da atenção global.</a:t>
            </a:r>
          </a:p>
          <a:p>
            <a:pPr>
              <a:spcBef>
                <a:spcPts val="300"/>
              </a:spcBef>
              <a:defRPr sz="1100">
                <a:solidFill>
                  <a:srgbClr val="E2E8F0"/>
                </a:solidFill>
              </a:defRPr>
            </a:pPr>
            <a:r>
              <a:t>• Sensível à escassez de dados de treinamento.</a:t>
            </a:r>
          </a:p>
        </p:txBody>
      </p:sp>
      <p:sp>
        <p:nvSpPr>
          <p:cNvPr id="8" name="Rounded Rectangle 7"/>
          <p:cNvSpPr/>
          <p:nvPr/>
        </p:nvSpPr>
        <p:spPr>
          <a:xfrm>
            <a:off x="6217920" y="1965960"/>
            <a:ext cx="52120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Aplica-se uma camada convolucional 2D com kernel $16 \times 16$, stride 16 e $D$ canais de saída.</a:t>
            </a:r>
          </a:p>
          <a:p>
            <a:pPr>
              <a:spcBef>
                <a:spcPts val="300"/>
              </a:spcBef>
              <a:defRPr sz="1100">
                <a:solidFill>
                  <a:srgbClr val="E2E8F0"/>
                </a:solidFill>
              </a:defRPr>
            </a:pPr>
            <a:r>
              <a:t>• Preservação de Geometria Local: A convolução atua como filtro espacial contínuo, extraindo gradientes de textura e bordas morfológicas do núcleo celular antes da atenção.</a:t>
            </a:r>
          </a:p>
          <a:p>
            <a:pPr>
              <a:spcBef>
                <a:spcPts val="300"/>
              </a:spcBef>
              <a:defRPr sz="1100">
                <a:solidFill>
                  <a:srgbClr val="E2E8F0"/>
                </a:solidFill>
              </a:defRPr>
            </a:pPr>
            <a:r>
              <a:t>• Reintroduz suavização espacial prévia.</a:t>
            </a:r>
          </a:p>
          <a:p>
            <a:pPr>
              <a:spcBef>
                <a:spcPts val="300"/>
              </a:spcBef>
              <a:defRPr sz="1100">
                <a:solidFill>
                  <a:srgbClr val="E2E8F0"/>
                </a:solidFill>
              </a:defRPr>
            </a:pPr>
            <a:r>
              <a:t>• Impacto Empírico na Tabela 2: Superou a projeção linear em todas as configurações dinâmicas com ganhos de até +11% na acurácia!</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2 • A HIPÓTESE CENTRAL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2  |  ⏱️ 19:00 - 20:30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As 5 Técnicas de Extração Dinâmica de Patches</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A Hipótese de Concentrar a Atenção sobre a Região de Interesse Celular</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Nas imagens do dataset CRIC, o núcleo atípico ocupa apenas a região central ($90 \times 90$ pixels).</a:t>
            </a:r>
          </a:p>
          <a:p>
            <a:pPr>
              <a:spcBef>
                <a:spcPts val="300"/>
              </a:spcBef>
              <a:defRPr sz="1100">
                <a:solidFill>
                  <a:srgbClr val="E2E8F0"/>
                </a:solidFill>
              </a:defRPr>
            </a:pPr>
            <a:r>
              <a:t>• A periferia contém citoplasma homogêneo ou fundo branco vazio da lâmina de vidro.</a:t>
            </a:r>
          </a:p>
          <a:p>
            <a:pPr>
              <a:spcBef>
                <a:spcPts val="300"/>
              </a:spcBef>
              <a:defRPr sz="1100">
                <a:solidFill>
                  <a:srgbClr val="E2E8F0"/>
                </a:solidFill>
              </a:defRPr>
            </a:pPr>
            <a:r>
              <a:t>• Premissa Teórica: Concentrar os 196 patches sobre a região celular aumentaria a densidade informativa e a acurácia do Vision Transformer.</a:t>
            </a:r>
          </a:p>
        </p:txBody>
      </p:sp>
      <p:sp>
        <p:nvSpPr>
          <p:cNvPr id="8" name="Rounded Rectangle 7"/>
          <p:cNvSpPr/>
          <p:nvPr/>
        </p:nvSpPr>
        <p:spPr>
          <a:xfrm>
            <a:off x="6217920" y="1965960"/>
            <a:ext cx="52120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Seleção Randômica (SR): Centros sorteados de forma uniformemente aleatória.</a:t>
            </a:r>
          </a:p>
          <a:p>
            <a:pPr>
              <a:spcBef>
                <a:spcPts val="300"/>
              </a:spcBef>
              <a:defRPr sz="1100">
                <a:solidFill>
                  <a:srgbClr val="E2E8F0"/>
                </a:solidFill>
              </a:defRPr>
            </a:pPr>
            <a:r>
              <a:t>• Randômica Aprimorada (RA): Sorteio aleatório com restrição de distância euclidiana mínima para reduzir sobreposições idênticas.</a:t>
            </a:r>
          </a:p>
          <a:p>
            <a:pPr>
              <a:spcBef>
                <a:spcPts val="300"/>
              </a:spcBef>
              <a:defRPr sz="1100">
                <a:solidFill>
                  <a:srgbClr val="E2E8F0"/>
                </a:solidFill>
              </a:defRPr>
            </a:pPr>
            <a:r>
              <a:t>• Segmentação GrabCut (SS): Máscara celular gerada por corte em grafos. Patches centrados apenas na célula. Fallback: se área $&lt; 10\%$, reverte para o grid regular.</a:t>
            </a:r>
          </a:p>
          <a:p>
            <a:pPr>
              <a:spcBef>
                <a:spcPts val="300"/>
              </a:spcBef>
              <a:defRPr sz="1100">
                <a:solidFill>
                  <a:srgbClr val="E2E8F0"/>
                </a:solidFill>
              </a:defRPr>
            </a:pPr>
            <a:r>
              <a:t>• Zigue-Zague (ZZ): Varredura diagonal alternada contínua cobrindo a região de interesse.</a:t>
            </a:r>
          </a:p>
          <a:p>
            <a:pPr>
              <a:spcBef>
                <a:spcPts val="300"/>
              </a:spcBef>
              <a:defRPr sz="1100">
                <a:solidFill>
                  <a:srgbClr val="E2E8F0"/>
                </a:solidFill>
              </a:defRPr>
            </a:pPr>
            <a:r>
              <a:t>• Espiral (ES): Amostragem concêntrica iniciando no centro do núcleo e expandindo em raios crescentes.</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2 • HARDWARE E FINE-TUNING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2  |  ⏱️ 20:30 - 21:45</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Infraestrutura Computacional e Descongelamento</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Estratégia de Fine-Tuning de Modelos Pré-Treinados na ImageNet-21k</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Estação Local (PUC Minas): GPU NVIDIA RTX 2060 (6 GB VRAM) • Processador AMD Ryzen 5 3600X • 32 GB RAM. Capacidade suficiente para treinar o ViT-Small.</a:t>
            </a:r>
          </a:p>
          <a:p>
            <a:pPr>
              <a:spcBef>
                <a:spcPts val="300"/>
              </a:spcBef>
              <a:defRPr sz="1100">
                <a:solidFill>
                  <a:srgbClr val="E2E8F0"/>
                </a:solidFill>
              </a:defRPr>
            </a:pPr>
            <a:r>
              <a:t>• Nuvem (Google Colab PRO): GPU NVIDIA Tesla T4 (15 GB VRAM) • 13 GB RAM. Exigida para suportar os 86M de parâmetros do ViT-Base.</a:t>
            </a:r>
          </a:p>
          <a:p>
            <a:pPr>
              <a:spcBef>
                <a:spcPts val="300"/>
              </a:spcBef>
              <a:defRPr sz="1100">
                <a:solidFill>
                  <a:srgbClr val="E2E8F0"/>
                </a:solidFill>
              </a:defRPr>
            </a:pPr>
            <a:r>
              <a:t>• Hiperparâmetros: Otimizador Adam, taxa de aprendizado estipulada em $1 \times 10^{-5}$ e batch size de 32 (taxa de $1 \times 10^{-4}$ causava divergência precoce).</a:t>
            </a:r>
          </a:p>
        </p:txBody>
      </p:sp>
      <p:sp>
        <p:nvSpPr>
          <p:cNvPr id="8" name="Rounded Rectangle 7"/>
          <p:cNvSpPr/>
          <p:nvPr/>
        </p:nvSpPr>
        <p:spPr>
          <a:xfrm>
            <a:off x="6217920" y="1965960"/>
            <a:ext cx="52120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ViT-Small (22M parâmetros • 12 blocos de atenção): Descongelaram-se os 2 primeiros blocos (ajuste de texturas celulares finas) e os 3 últimos blocos (semântica abstrata das 6 classes Bethesda). Blocos centrais congelados.</a:t>
            </a:r>
          </a:p>
          <a:p>
            <a:pPr>
              <a:spcBef>
                <a:spcPts val="300"/>
              </a:spcBef>
              <a:defRPr sz="1100">
                <a:solidFill>
                  <a:srgbClr val="E2E8F0"/>
                </a:solidFill>
              </a:defRPr>
            </a:pPr>
            <a:r>
              <a:t>• ViT-Base (86M parâmetros): Devido à saturação da VRAM e para evitar overfitting descontrolado, descongelou-se apenas o último bloco MLP. Subajuste severo pela restrição de recursos!</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ARTIGO 2 • RESULTADOS EXPERIMENTAIS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2  |  ⏱️ 21:45 - 23:00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Resultados (Tabela 2) e o "Paradoxo do Grid"</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O Modelo Baseline Convencional Superou Todos os Métodos Dinâmicos!</a:t>
            </a:r>
          </a:p>
        </p:txBody>
      </p:sp>
      <p:sp>
        <p:nvSpPr>
          <p:cNvPr id="7" name="TextBox 6"/>
          <p:cNvSpPr txBox="1"/>
          <p:nvPr/>
        </p:nvSpPr>
        <p:spPr>
          <a:xfrm>
            <a:off x="731520" y="1965960"/>
            <a:ext cx="10698480" cy="411480"/>
          </a:xfrm>
          <a:prstGeom prst="rect">
            <a:avLst/>
          </a:prstGeom>
          <a:noFill/>
        </p:spPr>
        <p:txBody>
          <a:bodyPr wrap="square">
            <a:spAutoFit/>
          </a:bodyPr>
          <a:lstStyle/>
          <a:p>
            <a:pPr>
              <a:defRPr sz="1200">
                <a:solidFill>
                  <a:srgbClr val="E2E8F0"/>
                </a:solidFill>
              </a:defRPr>
            </a:pPr>
            <a:r>
              <a:t>0,79 (79%) Baseline Grid Regular Superou todas as 5 propostas dinâmicas no teste cego independente. 0,78 (78%) Melhor Dinâmico: Espiral Amostragem concêntrica radial com projeção Conv2D. +5% a +11% Ganho com Conv2D A convolução superou a projeção linear em todos os casos. Transição de Bloco ➔ Palavra com o [Aluno 3] (Discussão Crítica &amp; Síntese Comparativa)</a:t>
            </a:r>
          </a:p>
        </p:txBody>
      </p:sp>
      <p:graphicFrame>
        <p:nvGraphicFramePr>
          <p:cNvPr id="8" name="Table 7"/>
          <p:cNvGraphicFramePr>
            <a:graphicFrameLocks noGrp="1"/>
          </p:cNvGraphicFramePr>
          <p:nvPr/>
        </p:nvGraphicFramePr>
        <p:xfrm>
          <a:off x="731520" y="2377440"/>
          <a:ext cx="10698480" cy="3840480"/>
        </p:xfrm>
        <a:graphic>
          <a:graphicData uri="http://schemas.openxmlformats.org/drawingml/2006/table">
            <a:tbl>
              <a:tblPr firstRow="1" bandRow="1">
                <a:tableStyleId>{5C22544A-7EE6-4342-B048-85BDC9FD1C3A}</a:tableStyleId>
              </a:tblPr>
              <a:tblGrid>
                <a:gridCol w="1528354"/>
                <a:gridCol w="1528354"/>
                <a:gridCol w="1528354"/>
                <a:gridCol w="1528354"/>
                <a:gridCol w="1528354"/>
                <a:gridCol w="1528354"/>
                <a:gridCol w="1528356"/>
              </a:tblGrid>
              <a:tr h="768096">
                <a:tc>
                  <a:txBody>
                    <a:bodyPr/>
                    <a:lstStyle/>
                    <a:p>
                      <a:pPr>
                        <a:defRPr sz="1000" b="1">
                          <a:solidFill>
                            <a:srgbClr val="38BDF8"/>
                          </a:solidFill>
                        </a:defRPr>
                      </a:pPr>
                      <a:r>
                        <a:t>Modelo ViT</a:t>
                      </a:r>
                    </a:p>
                  </a:txBody>
                  <a:tcPr>
                    <a:solidFill>
                      <a:srgbClr val="1E293B"/>
                    </a:solidFill>
                  </a:tcPr>
                </a:tc>
                <a:tc>
                  <a:txBody>
                    <a:bodyPr/>
                    <a:lstStyle/>
                    <a:p>
                      <a:pPr>
                        <a:defRPr sz="1000" b="1">
                          <a:solidFill>
                            <a:srgbClr val="38BDF8"/>
                          </a:solidFill>
                        </a:defRPr>
                      </a:pPr>
                      <a:r>
                        <a:t>Tipo de Projeção</a:t>
                      </a:r>
                    </a:p>
                  </a:txBody>
                  <a:tcPr>
                    <a:solidFill>
                      <a:srgbClr val="1E293B"/>
                    </a:solidFill>
                  </a:tcPr>
                </a:tc>
                <a:tc>
                  <a:txBody>
                    <a:bodyPr/>
                    <a:lstStyle/>
                    <a:p>
                      <a:pPr>
                        <a:defRPr sz="1000" b="1">
                          <a:solidFill>
                            <a:srgbClr val="38BDF8"/>
                          </a:solidFill>
                        </a:defRPr>
                      </a:pPr>
                      <a:r>
                        <a:t>SR (Rand.)</a:t>
                      </a:r>
                    </a:p>
                  </a:txBody>
                  <a:tcPr>
                    <a:solidFill>
                      <a:srgbClr val="1E293B"/>
                    </a:solidFill>
                  </a:tcPr>
                </a:tc>
                <a:tc>
                  <a:txBody>
                    <a:bodyPr/>
                    <a:lstStyle/>
                    <a:p>
                      <a:pPr>
                        <a:defRPr sz="1000" b="1">
                          <a:solidFill>
                            <a:srgbClr val="38BDF8"/>
                          </a:solidFill>
                        </a:defRPr>
                      </a:pPr>
                      <a:r>
                        <a:t>RA (Aprim.)</a:t>
                      </a:r>
                    </a:p>
                  </a:txBody>
                  <a:tcPr>
                    <a:solidFill>
                      <a:srgbClr val="1E293B"/>
                    </a:solidFill>
                  </a:tcPr>
                </a:tc>
                <a:tc>
                  <a:txBody>
                    <a:bodyPr/>
                    <a:lstStyle/>
                    <a:p>
                      <a:pPr>
                        <a:defRPr sz="1000" b="1">
                          <a:solidFill>
                            <a:srgbClr val="38BDF8"/>
                          </a:solidFill>
                        </a:defRPr>
                      </a:pPr>
                      <a:r>
                        <a:t>SS (GrabCut)</a:t>
                      </a:r>
                    </a:p>
                  </a:txBody>
                  <a:tcPr>
                    <a:solidFill>
                      <a:srgbClr val="1E293B"/>
                    </a:solidFill>
                  </a:tcPr>
                </a:tc>
                <a:tc>
                  <a:txBody>
                    <a:bodyPr/>
                    <a:lstStyle/>
                    <a:p>
                      <a:pPr>
                        <a:defRPr sz="1000" b="1">
                          <a:solidFill>
                            <a:srgbClr val="38BDF8"/>
                          </a:solidFill>
                        </a:defRPr>
                      </a:pPr>
                      <a:r>
                        <a:t>ZZ (Zigue-Z.)</a:t>
                      </a:r>
                    </a:p>
                  </a:txBody>
                  <a:tcPr>
                    <a:solidFill>
                      <a:srgbClr val="1E293B"/>
                    </a:solidFill>
                  </a:tcPr>
                </a:tc>
                <a:tc>
                  <a:txBody>
                    <a:bodyPr/>
                    <a:lstStyle/>
                    <a:p>
                      <a:pPr>
                        <a:defRPr sz="1000" b="1">
                          <a:solidFill>
                            <a:srgbClr val="38BDF8"/>
                          </a:solidFill>
                        </a:defRPr>
                      </a:pPr>
                      <a:r>
                        <a:t>ES (Espiral)</a:t>
                      </a:r>
                    </a:p>
                  </a:txBody>
                  <a:tcPr>
                    <a:solidFill>
                      <a:srgbClr val="1E293B"/>
                    </a:solidFill>
                  </a:tcPr>
                </a:tc>
              </a:tr>
              <a:tr h="768096">
                <a:tc>
                  <a:txBody>
                    <a:bodyPr/>
                    <a:lstStyle/>
                    <a:p>
                      <a:pPr>
                        <a:defRPr sz="950" b="0">
                          <a:solidFill>
                            <a:srgbClr val="E2E8F0"/>
                          </a:solidFill>
                        </a:defRPr>
                      </a:pPr>
                      <a:r>
                        <a:t>ViT-Base</a:t>
                      </a:r>
                    </a:p>
                  </a:txBody>
                  <a:tcPr>
                    <a:solidFill>
                      <a:srgbClr val="141D30"/>
                    </a:solidFill>
                  </a:tcPr>
                </a:tc>
                <a:tc>
                  <a:txBody>
                    <a:bodyPr/>
                    <a:lstStyle/>
                    <a:p>
                      <a:pPr>
                        <a:defRPr sz="950" b="0">
                          <a:solidFill>
                            <a:srgbClr val="E2E8F0"/>
                          </a:solidFill>
                        </a:defRPr>
                      </a:pPr>
                      <a:r>
                        <a:t>Linear</a:t>
                      </a:r>
                    </a:p>
                  </a:txBody>
                  <a:tcPr>
                    <a:solidFill>
                      <a:srgbClr val="141D30"/>
                    </a:solidFill>
                  </a:tcPr>
                </a:tc>
                <a:tc>
                  <a:txBody>
                    <a:bodyPr/>
                    <a:lstStyle/>
                    <a:p>
                      <a:pPr>
                        <a:defRPr sz="950" b="0">
                          <a:solidFill>
                            <a:srgbClr val="E2E8F0"/>
                          </a:solidFill>
                        </a:defRPr>
                      </a:pPr>
                      <a:r>
                        <a:t>0,70</a:t>
                      </a:r>
                    </a:p>
                  </a:txBody>
                  <a:tcPr>
                    <a:solidFill>
                      <a:srgbClr val="141D30"/>
                    </a:solidFill>
                  </a:tcPr>
                </a:tc>
                <a:tc>
                  <a:txBody>
                    <a:bodyPr/>
                    <a:lstStyle/>
                    <a:p>
                      <a:pPr>
                        <a:defRPr sz="950" b="0">
                          <a:solidFill>
                            <a:srgbClr val="E2E8F0"/>
                          </a:solidFill>
                        </a:defRPr>
                      </a:pPr>
                      <a:r>
                        <a:t>0,65</a:t>
                      </a:r>
                    </a:p>
                  </a:txBody>
                  <a:tcPr>
                    <a:solidFill>
                      <a:srgbClr val="141D30"/>
                    </a:solidFill>
                  </a:tcPr>
                </a:tc>
                <a:tc>
                  <a:txBody>
                    <a:bodyPr/>
                    <a:lstStyle/>
                    <a:p>
                      <a:pPr>
                        <a:defRPr sz="950" b="0">
                          <a:solidFill>
                            <a:srgbClr val="E2E8F0"/>
                          </a:solidFill>
                        </a:defRPr>
                      </a:pPr>
                      <a:r>
                        <a:t>0,60</a:t>
                      </a:r>
                    </a:p>
                  </a:txBody>
                  <a:tcPr>
                    <a:solidFill>
                      <a:srgbClr val="141D30"/>
                    </a:solidFill>
                  </a:tcPr>
                </a:tc>
                <a:tc>
                  <a:txBody>
                    <a:bodyPr/>
                    <a:lstStyle/>
                    <a:p>
                      <a:pPr>
                        <a:defRPr sz="950" b="0">
                          <a:solidFill>
                            <a:srgbClr val="E2E8F0"/>
                          </a:solidFill>
                        </a:defRPr>
                      </a:pPr>
                      <a:r>
                        <a:t>0,67</a:t>
                      </a:r>
                    </a:p>
                  </a:txBody>
                  <a:tcPr>
                    <a:solidFill>
                      <a:srgbClr val="141D30"/>
                    </a:solidFill>
                  </a:tcPr>
                </a:tc>
                <a:tc>
                  <a:txBody>
                    <a:bodyPr/>
                    <a:lstStyle/>
                    <a:p>
                      <a:pPr>
                        <a:defRPr sz="950" b="0">
                          <a:solidFill>
                            <a:srgbClr val="E2E8F0"/>
                          </a:solidFill>
                        </a:defRPr>
                      </a:pPr>
                      <a:r>
                        <a:t>0,67</a:t>
                      </a:r>
                    </a:p>
                  </a:txBody>
                  <a:tcPr>
                    <a:solidFill>
                      <a:srgbClr val="141D30"/>
                    </a:solidFill>
                  </a:tcPr>
                </a:tc>
              </a:tr>
              <a:tr h="768096">
                <a:tc>
                  <a:txBody>
                    <a:bodyPr/>
                    <a:lstStyle/>
                    <a:p>
                      <a:pPr>
                        <a:defRPr sz="950" b="0">
                          <a:solidFill>
                            <a:srgbClr val="E2E8F0"/>
                          </a:solidFill>
                        </a:defRPr>
                      </a:pPr>
                      <a:r>
                        <a:t>ViT-Small</a:t>
                      </a:r>
                    </a:p>
                  </a:txBody>
                  <a:tcPr>
                    <a:solidFill>
                      <a:srgbClr val="161E31"/>
                    </a:solidFill>
                  </a:tcPr>
                </a:tc>
                <a:tc>
                  <a:txBody>
                    <a:bodyPr/>
                    <a:lstStyle/>
                    <a:p>
                      <a:pPr>
                        <a:defRPr sz="950" b="0">
                          <a:solidFill>
                            <a:srgbClr val="E2E8F0"/>
                          </a:solidFill>
                        </a:defRPr>
                      </a:pPr>
                      <a:r>
                        <a:t>Linear</a:t>
                      </a:r>
                    </a:p>
                  </a:txBody>
                  <a:tcPr>
                    <a:solidFill>
                      <a:srgbClr val="161E31"/>
                    </a:solidFill>
                  </a:tcPr>
                </a:tc>
                <a:tc>
                  <a:txBody>
                    <a:bodyPr/>
                    <a:lstStyle/>
                    <a:p>
                      <a:pPr>
                        <a:defRPr sz="950" b="0">
                          <a:solidFill>
                            <a:srgbClr val="E2E8F0"/>
                          </a:solidFill>
                        </a:defRPr>
                      </a:pPr>
                      <a:r>
                        <a:t>0,64</a:t>
                      </a:r>
                    </a:p>
                  </a:txBody>
                  <a:tcPr>
                    <a:solidFill>
                      <a:srgbClr val="161E31"/>
                    </a:solidFill>
                  </a:tcPr>
                </a:tc>
                <a:tc>
                  <a:txBody>
                    <a:bodyPr/>
                    <a:lstStyle/>
                    <a:p>
                      <a:pPr>
                        <a:defRPr sz="950" b="0">
                          <a:solidFill>
                            <a:srgbClr val="E2E8F0"/>
                          </a:solidFill>
                        </a:defRPr>
                      </a:pPr>
                      <a:r>
                        <a:t>0,70</a:t>
                      </a:r>
                    </a:p>
                  </a:txBody>
                  <a:tcPr>
                    <a:solidFill>
                      <a:srgbClr val="161E31"/>
                    </a:solidFill>
                  </a:tcPr>
                </a:tc>
                <a:tc>
                  <a:txBody>
                    <a:bodyPr/>
                    <a:lstStyle/>
                    <a:p>
                      <a:pPr>
                        <a:defRPr sz="950" b="0">
                          <a:solidFill>
                            <a:srgbClr val="E2E8F0"/>
                          </a:solidFill>
                        </a:defRPr>
                      </a:pPr>
                      <a:r>
                        <a:t>0,71</a:t>
                      </a:r>
                    </a:p>
                  </a:txBody>
                  <a:tcPr>
                    <a:solidFill>
                      <a:srgbClr val="161E31"/>
                    </a:solidFill>
                  </a:tcPr>
                </a:tc>
                <a:tc>
                  <a:txBody>
                    <a:bodyPr/>
                    <a:lstStyle/>
                    <a:p>
                      <a:pPr>
                        <a:defRPr sz="950" b="0">
                          <a:solidFill>
                            <a:srgbClr val="E2E8F0"/>
                          </a:solidFill>
                        </a:defRPr>
                      </a:pPr>
                      <a:r>
                        <a:t>0,68</a:t>
                      </a:r>
                    </a:p>
                  </a:txBody>
                  <a:tcPr>
                    <a:solidFill>
                      <a:srgbClr val="161E31"/>
                    </a:solidFill>
                  </a:tcPr>
                </a:tc>
                <a:tc>
                  <a:txBody>
                    <a:bodyPr/>
                    <a:lstStyle/>
                    <a:p>
                      <a:pPr>
                        <a:defRPr sz="950" b="0">
                          <a:solidFill>
                            <a:srgbClr val="E2E8F0"/>
                          </a:solidFill>
                        </a:defRPr>
                      </a:pPr>
                      <a:r>
                        <a:t>0,69</a:t>
                      </a:r>
                    </a:p>
                  </a:txBody>
                  <a:tcPr>
                    <a:solidFill>
                      <a:srgbClr val="161E31"/>
                    </a:solidFill>
                  </a:tcPr>
                </a:tc>
              </a:tr>
              <a:tr h="768096">
                <a:tc>
                  <a:txBody>
                    <a:bodyPr/>
                    <a:lstStyle/>
                    <a:p>
                      <a:pPr>
                        <a:defRPr sz="950" b="0">
                          <a:solidFill>
                            <a:srgbClr val="E2E8F0"/>
                          </a:solidFill>
                        </a:defRPr>
                      </a:pPr>
                      <a:r>
                        <a:t>ViT-Small</a:t>
                      </a:r>
                    </a:p>
                  </a:txBody>
                  <a:tcPr>
                    <a:solidFill>
                      <a:srgbClr val="141D30"/>
                    </a:solidFill>
                  </a:tcPr>
                </a:tc>
                <a:tc>
                  <a:txBody>
                    <a:bodyPr/>
                    <a:lstStyle/>
                    <a:p>
                      <a:pPr>
                        <a:defRPr sz="950" b="0">
                          <a:solidFill>
                            <a:srgbClr val="E2E8F0"/>
                          </a:solidFill>
                        </a:defRPr>
                      </a:pPr>
                      <a:r>
                        <a:t>Conv2D</a:t>
                      </a:r>
                    </a:p>
                  </a:txBody>
                  <a:tcPr>
                    <a:solidFill>
                      <a:srgbClr val="141D30"/>
                    </a:solidFill>
                  </a:tcPr>
                </a:tc>
                <a:tc>
                  <a:txBody>
                    <a:bodyPr/>
                    <a:lstStyle/>
                    <a:p>
                      <a:pPr>
                        <a:defRPr sz="950" b="0">
                          <a:solidFill>
                            <a:srgbClr val="E2E8F0"/>
                          </a:solidFill>
                        </a:defRPr>
                      </a:pPr>
                      <a:r>
                        <a:t>0,75</a:t>
                      </a:r>
                    </a:p>
                  </a:txBody>
                  <a:tcPr>
                    <a:solidFill>
                      <a:srgbClr val="141D30"/>
                    </a:solidFill>
                  </a:tcPr>
                </a:tc>
                <a:tc>
                  <a:txBody>
                    <a:bodyPr/>
                    <a:lstStyle/>
                    <a:p>
                      <a:pPr>
                        <a:defRPr sz="950" b="0">
                          <a:solidFill>
                            <a:srgbClr val="E2E8F0"/>
                          </a:solidFill>
                        </a:defRPr>
                      </a:pPr>
                      <a:r>
                        <a:t>0,77</a:t>
                      </a:r>
                    </a:p>
                  </a:txBody>
                  <a:tcPr>
                    <a:solidFill>
                      <a:srgbClr val="141D30"/>
                    </a:solidFill>
                  </a:tcPr>
                </a:tc>
                <a:tc>
                  <a:txBody>
                    <a:bodyPr/>
                    <a:lstStyle/>
                    <a:p>
                      <a:pPr>
                        <a:defRPr sz="950" b="0">
                          <a:solidFill>
                            <a:srgbClr val="E2E8F0"/>
                          </a:solidFill>
                        </a:defRPr>
                      </a:pPr>
                      <a:r>
                        <a:t>0,76</a:t>
                      </a:r>
                    </a:p>
                  </a:txBody>
                  <a:tcPr>
                    <a:solidFill>
                      <a:srgbClr val="141D30"/>
                    </a:solidFill>
                  </a:tcPr>
                </a:tc>
                <a:tc>
                  <a:txBody>
                    <a:bodyPr/>
                    <a:lstStyle/>
                    <a:p>
                      <a:pPr>
                        <a:defRPr sz="950" b="0">
                          <a:solidFill>
                            <a:srgbClr val="E2E8F0"/>
                          </a:solidFill>
                        </a:defRPr>
                      </a:pPr>
                      <a:r>
                        <a:t>0,76</a:t>
                      </a:r>
                    </a:p>
                  </a:txBody>
                  <a:tcPr>
                    <a:solidFill>
                      <a:srgbClr val="141D30"/>
                    </a:solidFill>
                  </a:tcPr>
                </a:tc>
                <a:tc>
                  <a:txBody>
                    <a:bodyPr/>
                    <a:lstStyle/>
                    <a:p>
                      <a:pPr>
                        <a:defRPr sz="950" b="0">
                          <a:solidFill>
                            <a:srgbClr val="E2E8F0"/>
                          </a:solidFill>
                        </a:defRPr>
                      </a:pPr>
                      <a:r>
                        <a:t>0,78</a:t>
                      </a:r>
                    </a:p>
                  </a:txBody>
                  <a:tcPr>
                    <a:solidFill>
                      <a:srgbClr val="141D30"/>
                    </a:solidFill>
                  </a:tcPr>
                </a:tc>
              </a:tr>
              <a:tr h="768096">
                <a:tc>
                  <a:txBody>
                    <a:bodyPr/>
                    <a:lstStyle/>
                    <a:p>
                      <a:pPr>
                        <a:defRPr sz="950" b="0">
                          <a:solidFill>
                            <a:srgbClr val="E2E8F0"/>
                          </a:solidFill>
                        </a:defRPr>
                      </a:pPr>
                      <a:r>
                        <a:t>BASELINE GRID REGULAR CONV2D</a:t>
                      </a:r>
                    </a:p>
                  </a:txBody>
                  <a:tcPr>
                    <a:solidFill>
                      <a:srgbClr val="161E31"/>
                    </a:solidFill>
                  </a:tcPr>
                </a:tc>
                <a:tc>
                  <a:txBody>
                    <a:bodyPr/>
                    <a:lstStyle/>
                    <a:p>
                      <a:pPr>
                        <a:defRPr sz="950" b="0">
                          <a:solidFill>
                            <a:srgbClr val="E2E8F0"/>
                          </a:solidFill>
                        </a:defRPr>
                      </a:pPr>
                      <a:r>
                        <a:t>Acurácia de Validação: 0,81 (81%)</a:t>
                      </a:r>
                    </a:p>
                  </a:txBody>
                  <a:tcPr>
                    <a:solidFill>
                      <a:srgbClr val="161E31"/>
                    </a:solidFill>
                  </a:tcPr>
                </a:tc>
                <a:tc>
                  <a:txBody>
                    <a:bodyPr/>
                    <a:lstStyle/>
                    <a:p>
                      <a:pPr>
                        <a:defRPr sz="950" b="0">
                          <a:solidFill>
                            <a:srgbClr val="E2E8F0"/>
                          </a:solidFill>
                        </a:defRPr>
                      </a:pPr>
                      <a:r>
                        <a:t>Acurácia de Teste: 0,79 (79%)</a:t>
                      </a:r>
                    </a:p>
                  </a:txBody>
                  <a:tcPr>
                    <a:solidFill>
                      <a:srgbClr val="161E31"/>
                    </a:solidFill>
                  </a:tcPr>
                </a:tc>
                <a:tc>
                  <a:txBody>
                    <a:bodyPr/>
                    <a:lstStyle/>
                    <a:p/>
                  </a:txBody>
                  <a:tcPr/>
                </a:tc>
                <a:tc>
                  <a:txBody>
                    <a:bodyPr/>
                    <a:lstStyle/>
                    <a:p/>
                  </a:txBody>
                  <a:tcPr/>
                </a:tc>
                <a:tc>
                  <a:txBody>
                    <a:bodyPr/>
                    <a:lstStyle/>
                    <a:p/>
                  </a:txBody>
                  <a:tcPr/>
                </a:tc>
                <a:tc>
                  <a:txBody>
                    <a:bodyPr/>
                    <a:lstStyle/>
                    <a:p/>
                  </a:txBody>
                  <a:tcPr/>
                </a:tc>
              </a:tr>
            </a:tbl>
          </a:graphicData>
        </a:graphic>
      </p:graphicFrame>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BLOCO 3 • DISCUSSÃO CRÍTICA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3  |  ⏱️ 23:00 - 24:30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Análise de Causa-Raiz: Por Que o Grid Venceu?</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Desconstrução Matemática e Morfológica do Fracasso dos Patches Dinâmicos</a:t>
            </a:r>
          </a:p>
        </p:txBody>
      </p:sp>
      <p:sp>
        <p:nvSpPr>
          <p:cNvPr id="7" name="Rounded Rectangle 6"/>
          <p:cNvSpPr/>
          <p:nvPr/>
        </p:nvSpPr>
        <p:spPr>
          <a:xfrm>
            <a:off x="731520" y="1965960"/>
            <a:ext cx="33832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400"/>
              </a:spcBef>
              <a:defRPr sz="1100">
                <a:solidFill>
                  <a:srgbClr val="94A3B8"/>
                </a:solidFill>
              </a:defRPr>
            </a:pPr>
            <a:r>
              <a:t>Forçar 196 patches de $16 \times 16$ sobre uma região celular de apenas $90 \times 90$ gerou sobreposição superior a 80%.</a:t>
            </a:r>
          </a:p>
          <a:p>
            <a:pPr>
              <a:spcBef>
                <a:spcPts val="400"/>
              </a:spcBef>
              <a:defRPr sz="1100">
                <a:solidFill>
                  <a:srgbClr val="94A3B8"/>
                </a:solidFill>
              </a:defRPr>
            </a:pPr>
            <a:r>
              <a:t>Vetores de Query ($Q$) e Key ($K$) tornaram-se quase idênticos, saturando as matrizes de atenção em entropia redundante sem adicionar novas informações discriminativas.</a:t>
            </a:r>
          </a:p>
        </p:txBody>
      </p:sp>
      <p:sp>
        <p:nvSpPr>
          <p:cNvPr id="8" name="Rounded Rectangle 7"/>
          <p:cNvSpPr/>
          <p:nvPr/>
        </p:nvSpPr>
        <p:spPr>
          <a:xfrm>
            <a:off x="4389120" y="1965960"/>
            <a:ext cx="33832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400"/>
              </a:spcBef>
              <a:defRPr sz="1100">
                <a:solidFill>
                  <a:srgbClr val="94A3B8"/>
                </a:solidFill>
              </a:defRPr>
            </a:pPr>
            <a:r>
              <a:t>Os positional embeddings 1D foram pré-treinados na ImageNet para uma grade cartesiana rígida $14 \times 14$.</a:t>
            </a:r>
          </a:p>
          <a:p>
            <a:pPr>
              <a:spcBef>
                <a:spcPts val="400"/>
              </a:spcBef>
              <a:defRPr sz="1100">
                <a:solidFill>
                  <a:srgbClr val="94A3B8"/>
                </a:solidFill>
              </a:defRPr>
            </a:pPr>
            <a:r>
              <a:t>Centros sorteados ou em espiral associados aos mesmos índices 1D distorceram a estrutura topológica aprendida, forçando o ViT a reaprender geometria visual sem dados suficientes.</a:t>
            </a:r>
          </a:p>
        </p:txBody>
      </p:sp>
      <p:sp>
        <p:nvSpPr>
          <p:cNvPr id="9" name="Rounded Rectangle 8"/>
          <p:cNvSpPr/>
          <p:nvPr/>
        </p:nvSpPr>
        <p:spPr>
          <a:xfrm>
            <a:off x="8046720" y="1965960"/>
            <a:ext cx="33832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400"/>
              </a:spcBef>
              <a:defRPr sz="1100">
                <a:solidFill>
                  <a:srgbClr val="94A3B8"/>
                </a:solidFill>
              </a:defRPr>
            </a:pPr>
            <a:r>
              <a:t>No Sistema Bethesda, atipias dependem crucialmente da relação de área entre o núcleo e o citoplasma (N/C).</a:t>
            </a:r>
          </a:p>
          <a:p>
            <a:pPr>
              <a:spcBef>
                <a:spcPts val="400"/>
              </a:spcBef>
              <a:defRPr sz="1100">
                <a:solidFill>
                  <a:srgbClr val="94A3B8"/>
                </a:solidFill>
              </a:defRPr>
            </a:pPr>
            <a:r>
              <a:t>Ao concentrar todos os patches no núcleo, o modelo privou-se de avaliar a extensão e o contorno do citoplasma periférico, contexto que a grade convencional preserva com fidelidade.</a:t>
            </a:r>
          </a:p>
        </p:txBody>
      </p:sp>
      <p:sp>
        <p:nvSpPr>
          <p:cNvPr id="10" name="TextBox 9"/>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1" name="TextBox 10"/>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BLOCO 3 • CONFRONTO TEÓRICO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3  |  ⏱️ 24:30 - 26:00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Duelo Teórico: Viés Indutivo vs. Fome de Dados</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Por Que o Ensemble de CNNs (95%) Superou o Vision Transformer (79%) no CRIC?</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Viés Indutivo Rígido Codificado na Matemática: Localidade: pixels adjacentes possuem forte correlação semântica. Equivariância à Translação: um padrão tumoral é identificado com os mesmos filtros em qualquer hemisfério craniano.</a:t>
            </a:r>
          </a:p>
          <a:p>
            <a:pPr>
              <a:spcBef>
                <a:spcPts val="300"/>
              </a:spcBef>
              <a:defRPr sz="1100">
                <a:solidFill>
                  <a:srgbClr val="E2E8F0"/>
                </a:solidFill>
              </a:defRPr>
            </a:pPr>
            <a:r>
              <a:t>• Localidade: pixels adjacentes possuem forte correlação semântica.</a:t>
            </a:r>
          </a:p>
          <a:p>
            <a:pPr>
              <a:spcBef>
                <a:spcPts val="300"/>
              </a:spcBef>
              <a:defRPr sz="1100">
                <a:solidFill>
                  <a:srgbClr val="E2E8F0"/>
                </a:solidFill>
              </a:defRPr>
            </a:pPr>
            <a:r>
              <a:t>• Equivariância à Translação: um padrão tumoral é identificado com os mesmos filtros em qualquer hemisfério craniano.</a:t>
            </a:r>
          </a:p>
          <a:p>
            <a:pPr>
              <a:spcBef>
                <a:spcPts val="300"/>
              </a:spcBef>
              <a:defRPr sz="1100">
                <a:solidFill>
                  <a:srgbClr val="E2E8F0"/>
                </a:solidFill>
              </a:defRPr>
            </a:pPr>
            <a:r>
              <a:t>• Baixa Fome de Dados: Convergiu para 99% de acurácia com apenas 5.500 fatias treinadas do zero!</a:t>
            </a:r>
          </a:p>
          <a:p>
            <a:pPr>
              <a:spcBef>
                <a:spcPts val="300"/>
              </a:spcBef>
              <a:defRPr sz="1100">
                <a:solidFill>
                  <a:srgbClr val="E2E8F0"/>
                </a:solidFill>
              </a:defRPr>
            </a:pPr>
            <a:r>
              <a:t>• Complexidade Linear $\mathcal{O}(H \cdot W \cdot K^2)$ no tamanho da imagem.</a:t>
            </a:r>
          </a:p>
        </p:txBody>
      </p:sp>
      <p:sp>
        <p:nvSpPr>
          <p:cNvPr id="8" name="Rounded Rectangle 7"/>
          <p:cNvSpPr/>
          <p:nvPr/>
        </p:nvSpPr>
        <p:spPr>
          <a:xfrm>
            <a:off x="6217920" y="1965960"/>
            <a:ext cx="52120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Ausência de Viés Espacial Prévio: Atenção global $all-to-all$ sem premissas topológicas. O modelo precisa deduzir as leis do espaço visual por força bruta de retropropagação.</a:t>
            </a:r>
          </a:p>
          <a:p>
            <a:pPr>
              <a:spcBef>
                <a:spcPts val="300"/>
              </a:spcBef>
              <a:defRPr sz="1100">
                <a:solidFill>
                  <a:srgbClr val="E2E8F0"/>
                </a:solidFill>
              </a:defRPr>
            </a:pPr>
            <a:r>
              <a:t>• Atenção global $all-to-all$ sem premissas topológicas.</a:t>
            </a:r>
          </a:p>
          <a:p>
            <a:pPr>
              <a:spcBef>
                <a:spcPts val="300"/>
              </a:spcBef>
              <a:defRPr sz="1100">
                <a:solidFill>
                  <a:srgbClr val="E2E8F0"/>
                </a:solidFill>
              </a:defRPr>
            </a:pPr>
            <a:r>
              <a:t>• O modelo precisa deduzir as leis do espaço visual por força bruta de retropropagação.</a:t>
            </a:r>
          </a:p>
          <a:p>
            <a:pPr>
              <a:spcBef>
                <a:spcPts val="300"/>
              </a:spcBef>
              <a:defRPr sz="1100">
                <a:solidFill>
                  <a:srgbClr val="E2E8F0"/>
                </a:solidFill>
              </a:defRPr>
            </a:pPr>
            <a:r>
              <a:t>• Fome Massiva de Dados (Data-Hunger): Mesmo com pré-treino na ImageNet-21k (14 milhões de imagens), 6.000 amostras celulares médicas são insuficientes para calibrar a atenção fina.</a:t>
            </a:r>
          </a:p>
          <a:p>
            <a:pPr>
              <a:spcBef>
                <a:spcPts val="300"/>
              </a:spcBef>
              <a:defRPr sz="1100">
                <a:solidFill>
                  <a:srgbClr val="E2E8F0"/>
                </a:solidFill>
              </a:defRPr>
            </a:pPr>
            <a:r>
              <a:t>• Estado da Arte no CRIC (Diniz et al., 2021): Um Ensemble de CNNs alcançou 95% de acurácia, superando com folga o ViT (79%).</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BLOCO 3 • ANÁLISE COMPARATIVA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3  |  ⏱️ 26:00 - 27:45</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Matriz Comparativa Sistemática: Artigo 1 vs. Artigo 2</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Desconstrução Metodológica Completa sob 16 Dimensões Técnicas</a:t>
            </a:r>
          </a:p>
        </p:txBody>
      </p:sp>
      <p:graphicFrame>
        <p:nvGraphicFramePr>
          <p:cNvPr id="7" name="Table 6"/>
          <p:cNvGraphicFramePr>
            <a:graphicFrameLocks noGrp="1"/>
          </p:cNvGraphicFramePr>
          <p:nvPr/>
        </p:nvGraphicFramePr>
        <p:xfrm>
          <a:off x="731520" y="1965960"/>
          <a:ext cx="10698480" cy="4114800"/>
        </p:xfrm>
        <a:graphic>
          <a:graphicData uri="http://schemas.openxmlformats.org/drawingml/2006/table">
            <a:tbl>
              <a:tblPr firstRow="1" bandRow="1">
                <a:tableStyleId>{5C22544A-7EE6-4342-B048-85BDC9FD1C3A}</a:tableStyleId>
              </a:tblPr>
              <a:tblGrid>
                <a:gridCol w="3566160"/>
                <a:gridCol w="3566160"/>
                <a:gridCol w="3566160"/>
              </a:tblGrid>
              <a:tr h="228600">
                <a:tc>
                  <a:txBody>
                    <a:bodyPr/>
                    <a:lstStyle/>
                    <a:p>
                      <a:pPr>
                        <a:defRPr sz="1000" b="1">
                          <a:solidFill>
                            <a:srgbClr val="38BDF8"/>
                          </a:solidFill>
                        </a:defRPr>
                      </a:pPr>
                      <a:r>
                        <a:t>Dimensão</a:t>
                      </a:r>
                    </a:p>
                  </a:txBody>
                  <a:tcPr>
                    <a:solidFill>
                      <a:srgbClr val="1E293B"/>
                    </a:solidFill>
                  </a:tcPr>
                </a:tc>
                <a:tc>
                  <a:txBody>
                    <a:bodyPr/>
                    <a:lstStyle/>
                    <a:p>
                      <a:pPr>
                        <a:defRPr sz="1000" b="1">
                          <a:solidFill>
                            <a:srgbClr val="38BDF8"/>
                          </a:solidFill>
                        </a:defRPr>
                      </a:pPr>
                      <a:r>
                        <a:t>Artigo 1: UFCSPA (BRACIS 2023)</a:t>
                      </a:r>
                    </a:p>
                  </a:txBody>
                  <a:tcPr>
                    <a:solidFill>
                      <a:srgbClr val="1E293B"/>
                    </a:solidFill>
                  </a:tcPr>
                </a:tc>
                <a:tc>
                  <a:txBody>
                    <a:bodyPr/>
                    <a:lstStyle/>
                    <a:p>
                      <a:pPr>
                        <a:defRPr sz="1000" b="1">
                          <a:solidFill>
                            <a:srgbClr val="38BDF8"/>
                          </a:solidFill>
                        </a:defRPr>
                      </a:pPr>
                      <a:r>
                        <a:t>Artigo 2: PUC Minas / UFMG (SBC 2025)</a:t>
                      </a:r>
                    </a:p>
                  </a:txBody>
                  <a:tcPr>
                    <a:solidFill>
                      <a:srgbClr val="1E293B"/>
                    </a:solidFill>
                  </a:tcPr>
                </a:tc>
              </a:tr>
              <a:tr h="228600">
                <a:tc>
                  <a:txBody>
                    <a:bodyPr/>
                    <a:lstStyle/>
                    <a:p>
                      <a:pPr>
                        <a:defRPr sz="950" b="0">
                          <a:solidFill>
                            <a:srgbClr val="E2E8F0"/>
                          </a:solidFill>
                        </a:defRPr>
                      </a:pPr>
                      <a:r>
                        <a:t>Problema Clínico</a:t>
                      </a:r>
                    </a:p>
                  </a:txBody>
                  <a:tcPr>
                    <a:solidFill>
                      <a:srgbClr val="141D30"/>
                    </a:solidFill>
                  </a:tcPr>
                </a:tc>
                <a:tc>
                  <a:txBody>
                    <a:bodyPr/>
                    <a:lstStyle/>
                    <a:p>
                      <a:pPr>
                        <a:defRPr sz="950" b="0">
                          <a:solidFill>
                            <a:srgbClr val="E2E8F0"/>
                          </a:solidFill>
                        </a:defRPr>
                      </a:pPr>
                      <a:r>
                        <a:t>Diagnóstico diferencial de tumores encefálicos</a:t>
                      </a:r>
                    </a:p>
                  </a:txBody>
                  <a:tcPr>
                    <a:solidFill>
                      <a:srgbClr val="141D30"/>
                    </a:solidFill>
                  </a:tcPr>
                </a:tc>
                <a:tc>
                  <a:txBody>
                    <a:bodyPr/>
                    <a:lstStyle/>
                    <a:p>
                      <a:pPr>
                        <a:defRPr sz="950" b="0">
                          <a:solidFill>
                            <a:srgbClr val="E2E8F0"/>
                          </a:solidFill>
                        </a:defRPr>
                      </a:pPr>
                      <a:r>
                        <a:t>Rastreamento citológico de câncer do colo uterino</a:t>
                      </a:r>
                    </a:p>
                  </a:txBody>
                  <a:tcPr>
                    <a:solidFill>
                      <a:srgbClr val="141D30"/>
                    </a:solidFill>
                  </a:tcPr>
                </a:tc>
              </a:tr>
              <a:tr h="228600">
                <a:tc>
                  <a:txBody>
                    <a:bodyPr/>
                    <a:lstStyle/>
                    <a:p>
                      <a:pPr>
                        <a:defRPr sz="950" b="0">
                          <a:solidFill>
                            <a:srgbClr val="E2E8F0"/>
                          </a:solidFill>
                        </a:defRPr>
                      </a:pPr>
                      <a:r>
                        <a:t>Modalidade</a:t>
                      </a:r>
                    </a:p>
                  </a:txBody>
                  <a:tcPr>
                    <a:solidFill>
                      <a:srgbClr val="161E31"/>
                    </a:solidFill>
                  </a:tcPr>
                </a:tc>
                <a:tc>
                  <a:txBody>
                    <a:bodyPr/>
                    <a:lstStyle/>
                    <a:p>
                      <a:pPr>
                        <a:defRPr sz="950" b="0">
                          <a:solidFill>
                            <a:srgbClr val="E2E8F0"/>
                          </a:solidFill>
                        </a:defRPr>
                      </a:pPr>
                      <a:r>
                        <a:t>Ressonância Magnética (MRI) 2D axial/sagital</a:t>
                      </a:r>
                    </a:p>
                  </a:txBody>
                  <a:tcPr>
                    <a:solidFill>
                      <a:srgbClr val="161E31"/>
                    </a:solidFill>
                  </a:tcPr>
                </a:tc>
                <a:tc>
                  <a:txBody>
                    <a:bodyPr/>
                    <a:lstStyle/>
                    <a:p>
                      <a:pPr>
                        <a:defRPr sz="950" b="0">
                          <a:solidFill>
                            <a:srgbClr val="E2E8F0"/>
                          </a:solidFill>
                        </a:defRPr>
                      </a:pPr>
                      <a:r>
                        <a:t>Microscopia óptica de esfregaço (Papanicolau)</a:t>
                      </a:r>
                    </a:p>
                  </a:txBody>
                  <a:tcPr>
                    <a:solidFill>
                      <a:srgbClr val="161E31"/>
                    </a:solidFill>
                  </a:tcPr>
                </a:tc>
              </a:tr>
              <a:tr h="228600">
                <a:tc>
                  <a:txBody>
                    <a:bodyPr/>
                    <a:lstStyle/>
                    <a:p>
                      <a:pPr>
                        <a:defRPr sz="950" b="0">
                          <a:solidFill>
                            <a:srgbClr val="E2E8F0"/>
                          </a:solidFill>
                        </a:defRPr>
                      </a:pPr>
                      <a:r>
                        <a:t>Granularidade</a:t>
                      </a:r>
                    </a:p>
                  </a:txBody>
                  <a:tcPr>
                    <a:solidFill>
                      <a:srgbClr val="141D30"/>
                    </a:solidFill>
                  </a:tcPr>
                </a:tc>
                <a:tc>
                  <a:txBody>
                    <a:bodyPr/>
                    <a:lstStyle/>
                    <a:p>
                      <a:pPr>
                        <a:defRPr sz="950" b="0">
                          <a:solidFill>
                            <a:srgbClr val="E2E8F0"/>
                          </a:solidFill>
                        </a:defRPr>
                      </a:pPr>
                      <a:r>
                        <a:t>Macroestrutural (crânio, ventrículos, massa tumoral)</a:t>
                      </a:r>
                    </a:p>
                  </a:txBody>
                  <a:tcPr>
                    <a:solidFill>
                      <a:srgbClr val="141D30"/>
                    </a:solidFill>
                  </a:tcPr>
                </a:tc>
                <a:tc>
                  <a:txBody>
                    <a:bodyPr/>
                    <a:lstStyle/>
                    <a:p>
                      <a:pPr>
                        <a:defRPr sz="950" b="0">
                          <a:solidFill>
                            <a:srgbClr val="E2E8F0"/>
                          </a:solidFill>
                        </a:defRPr>
                      </a:pPr>
                      <a:r>
                        <a:t>Microestrutural (núcleos celulares isolados e atipias)</a:t>
                      </a:r>
                    </a:p>
                  </a:txBody>
                  <a:tcPr>
                    <a:solidFill>
                      <a:srgbClr val="141D30"/>
                    </a:solidFill>
                  </a:tcPr>
                </a:tc>
              </a:tr>
              <a:tr h="228600">
                <a:tc>
                  <a:txBody>
                    <a:bodyPr/>
                    <a:lstStyle/>
                    <a:p>
                      <a:pPr>
                        <a:defRPr sz="950" b="0">
                          <a:solidFill>
                            <a:srgbClr val="E2E8F0"/>
                          </a:solidFill>
                        </a:defRPr>
                      </a:pPr>
                      <a:r>
                        <a:t>Classes</a:t>
                      </a:r>
                    </a:p>
                  </a:txBody>
                  <a:tcPr>
                    <a:solidFill>
                      <a:srgbClr val="161E31"/>
                    </a:solidFill>
                  </a:tcPr>
                </a:tc>
                <a:tc>
                  <a:txBody>
                    <a:bodyPr/>
                    <a:lstStyle/>
                    <a:p>
                      <a:pPr>
                        <a:defRPr sz="950" b="0">
                          <a:solidFill>
                            <a:srgbClr val="E2E8F0"/>
                          </a:solidFill>
                        </a:defRPr>
                      </a:pPr>
                      <a:r>
                        <a:t>4 classes: Glioma, Meningioma, No Tumor, Pituitary</a:t>
                      </a:r>
                    </a:p>
                  </a:txBody>
                  <a:tcPr>
                    <a:solidFill>
                      <a:srgbClr val="161E31"/>
                    </a:solidFill>
                  </a:tcPr>
                </a:tc>
                <a:tc>
                  <a:txBody>
                    <a:bodyPr/>
                    <a:lstStyle/>
                    <a:p>
                      <a:pPr>
                        <a:defRPr sz="950" b="0">
                          <a:solidFill>
                            <a:srgbClr val="E2E8F0"/>
                          </a:solidFill>
                        </a:defRPr>
                      </a:pPr>
                      <a:r>
                        <a:t>6 classes (Bethesda): ASC-H, ASC-US, HSIL, LSIL, NFIL, SCC</a:t>
                      </a:r>
                    </a:p>
                  </a:txBody>
                  <a:tcPr>
                    <a:solidFill>
                      <a:srgbClr val="161E31"/>
                    </a:solidFill>
                  </a:tcPr>
                </a:tc>
              </a:tr>
              <a:tr h="228600">
                <a:tc>
                  <a:txBody>
                    <a:bodyPr/>
                    <a:lstStyle/>
                    <a:p>
                      <a:pPr>
                        <a:defRPr sz="950" b="0">
                          <a:solidFill>
                            <a:srgbClr val="E2E8F0"/>
                          </a:solidFill>
                        </a:defRPr>
                      </a:pPr>
                      <a:r>
                        <a:t>Bases de Dados</a:t>
                      </a:r>
                    </a:p>
                  </a:txBody>
                  <a:tcPr>
                    <a:solidFill>
                      <a:srgbClr val="141D30"/>
                    </a:solidFill>
                  </a:tcPr>
                </a:tc>
                <a:tc>
                  <a:txBody>
                    <a:bodyPr/>
                    <a:lstStyle/>
                    <a:p>
                      <a:pPr>
                        <a:defRPr sz="950" b="0">
                          <a:solidFill>
                            <a:srgbClr val="E2E8F0"/>
                          </a:solidFill>
                        </a:defRPr>
                      </a:pPr>
                      <a:r>
                        <a:t>Kaggle Brain Tumor MRI + Figshare auditado</a:t>
                      </a:r>
                    </a:p>
                  </a:txBody>
                  <a:tcPr>
                    <a:solidFill>
                      <a:srgbClr val="141D30"/>
                    </a:solidFill>
                  </a:tcPr>
                </a:tc>
                <a:tc>
                  <a:txBody>
                    <a:bodyPr/>
                    <a:lstStyle/>
                    <a:p>
                      <a:pPr>
                        <a:defRPr sz="950" b="0">
                          <a:solidFill>
                            <a:srgbClr val="E2E8F0"/>
                          </a:solidFill>
                        </a:defRPr>
                      </a:pPr>
                      <a:r>
                        <a:t>Base CRIC (Universidade Federal de Ouro Preto - UFOP)</a:t>
                      </a:r>
                    </a:p>
                  </a:txBody>
                  <a:tcPr>
                    <a:solidFill>
                      <a:srgbClr val="141D30"/>
                    </a:solidFill>
                  </a:tcPr>
                </a:tc>
              </a:tr>
              <a:tr h="228600">
                <a:tc>
                  <a:txBody>
                    <a:bodyPr/>
                    <a:lstStyle/>
                    <a:p>
                      <a:pPr>
                        <a:defRPr sz="950" b="0">
                          <a:solidFill>
                            <a:srgbClr val="E2E8F0"/>
                          </a:solidFill>
                        </a:defRPr>
                      </a:pPr>
                      <a:r>
                        <a:t>Amostras</a:t>
                      </a:r>
                    </a:p>
                  </a:txBody>
                  <a:tcPr>
                    <a:solidFill>
                      <a:srgbClr val="161E31"/>
                    </a:solidFill>
                  </a:tcPr>
                </a:tc>
                <a:tc>
                  <a:txBody>
                    <a:bodyPr/>
                    <a:lstStyle/>
                    <a:p>
                      <a:pPr>
                        <a:defRPr sz="950" b="0">
                          <a:solidFill>
                            <a:srgbClr val="E2E8F0"/>
                          </a:solidFill>
                        </a:defRPr>
                      </a:pPr>
                      <a:r>
                        <a:t>7.023 imagens (5.531 treino e 1.297 teste)</a:t>
                      </a:r>
                    </a:p>
                  </a:txBody>
                  <a:tcPr>
                    <a:solidFill>
                      <a:srgbClr val="161E31"/>
                    </a:solidFill>
                  </a:tcPr>
                </a:tc>
                <a:tc>
                  <a:txBody>
                    <a:bodyPr/>
                    <a:lstStyle/>
                    <a:p>
                      <a:pPr>
                        <a:defRPr sz="950" b="0">
                          <a:solidFill>
                            <a:srgbClr val="E2E8F0"/>
                          </a:solidFill>
                        </a:defRPr>
                      </a:pPr>
                      <a:r>
                        <a:t>11.534 núcleos de células de 400 imagens de lâminas</a:t>
                      </a:r>
                    </a:p>
                  </a:txBody>
                  <a:tcPr>
                    <a:solidFill>
                      <a:srgbClr val="161E31"/>
                    </a:solidFill>
                  </a:tcPr>
                </a:tc>
              </a:tr>
              <a:tr h="228600">
                <a:tc>
                  <a:txBody>
                    <a:bodyPr/>
                    <a:lstStyle/>
                    <a:p>
                      <a:pPr>
                        <a:defRPr sz="950" b="0">
                          <a:solidFill>
                            <a:srgbClr val="E2E8F0"/>
                          </a:solidFill>
                        </a:defRPr>
                      </a:pPr>
                      <a:r>
                        <a:t>Resolução</a:t>
                      </a:r>
                    </a:p>
                  </a:txBody>
                  <a:tcPr>
                    <a:solidFill>
                      <a:srgbClr val="141D30"/>
                    </a:solidFill>
                  </a:tcPr>
                </a:tc>
                <a:tc>
                  <a:txBody>
                    <a:bodyPr/>
                    <a:lstStyle/>
                    <a:p>
                      <a:pPr>
                        <a:defRPr sz="950" b="0">
                          <a:solidFill>
                            <a:srgbClr val="E2E8F0"/>
                          </a:solidFill>
                        </a:defRPr>
                      </a:pPr>
                      <a:r>
                        <a:t>$64 \times 64$ pixels (3 canais, escala $[0, 1]$)</a:t>
                      </a:r>
                    </a:p>
                  </a:txBody>
                  <a:tcPr>
                    <a:solidFill>
                      <a:srgbClr val="141D30"/>
                    </a:solidFill>
                  </a:tcPr>
                </a:tc>
                <a:tc>
                  <a:txBody>
                    <a:bodyPr/>
                    <a:lstStyle/>
                    <a:p>
                      <a:pPr>
                        <a:defRPr sz="950" b="0">
                          <a:solidFill>
                            <a:srgbClr val="E2E8F0"/>
                          </a:solidFill>
                        </a:defRPr>
                      </a:pPr>
                      <a:r>
                        <a:t>$224 \times 224$ pixels (recortes nativos de $90 \times 90$)</a:t>
                      </a:r>
                    </a:p>
                  </a:txBody>
                  <a:tcPr>
                    <a:solidFill>
                      <a:srgbClr val="141D30"/>
                    </a:solidFill>
                  </a:tcPr>
                </a:tc>
              </a:tr>
              <a:tr h="228600">
                <a:tc>
                  <a:txBody>
                    <a:bodyPr/>
                    <a:lstStyle/>
                    <a:p>
                      <a:pPr>
                        <a:defRPr sz="950" b="0">
                          <a:solidFill>
                            <a:srgbClr val="E2E8F0"/>
                          </a:solidFill>
                        </a:defRPr>
                      </a:pPr>
                      <a:r>
                        <a:t>Auditoria de Dados</a:t>
                      </a:r>
                    </a:p>
                  </a:txBody>
                  <a:tcPr>
                    <a:solidFill>
                      <a:srgbClr val="161E31"/>
                    </a:solidFill>
                  </a:tcPr>
                </a:tc>
                <a:tc>
                  <a:txBody>
                    <a:bodyPr/>
                    <a:lstStyle/>
                    <a:p>
                      <a:pPr>
                        <a:defRPr sz="950" b="0">
                          <a:solidFill>
                            <a:srgbClr val="E2E8F0"/>
                          </a:solidFill>
                        </a:defRPr>
                      </a:pPr>
                      <a:r>
                        <a:t>Substituição cirúrgica de rótulos errados de Glioma</a:t>
                      </a:r>
                    </a:p>
                  </a:txBody>
                  <a:tcPr>
                    <a:solidFill>
                      <a:srgbClr val="161E31"/>
                    </a:solidFill>
                  </a:tcPr>
                </a:tc>
                <a:tc>
                  <a:txBody>
                    <a:bodyPr/>
                    <a:lstStyle/>
                    <a:p>
                      <a:pPr>
                        <a:defRPr sz="950" b="0">
                          <a:solidFill>
                            <a:srgbClr val="E2E8F0"/>
                          </a:solidFill>
                        </a:defRPr>
                      </a:pPr>
                      <a:r>
                        <a:t>Segmentação morfológica e descarte de debris</a:t>
                      </a:r>
                    </a:p>
                  </a:txBody>
                  <a:tcPr>
                    <a:solidFill>
                      <a:srgbClr val="161E31"/>
                    </a:solidFill>
                  </a:tcPr>
                </a:tc>
              </a:tr>
              <a:tr h="228600">
                <a:tc>
                  <a:txBody>
                    <a:bodyPr/>
                    <a:lstStyle/>
                    <a:p>
                      <a:pPr>
                        <a:defRPr sz="950" b="0">
                          <a:solidFill>
                            <a:srgbClr val="E2E8F0"/>
                          </a:solidFill>
                        </a:defRPr>
                      </a:pPr>
                      <a:r>
                        <a:t>Prevenção Leakage</a:t>
                      </a:r>
                    </a:p>
                  </a:txBody>
                  <a:tcPr>
                    <a:solidFill>
                      <a:srgbClr val="141D30"/>
                    </a:solidFill>
                  </a:tcPr>
                </a:tc>
                <a:tc>
                  <a:txBody>
                    <a:bodyPr/>
                    <a:lstStyle/>
                    <a:p>
                      <a:pPr>
                        <a:defRPr sz="950" b="0">
                          <a:solidFill>
                            <a:srgbClr val="E2E8F0"/>
                          </a:solidFill>
                        </a:defRPr>
                      </a:pPr>
                      <a:r>
                        <a:t>Separação antes de normalizar; K-Fold 5 dobras</a:t>
                      </a:r>
                    </a:p>
                  </a:txBody>
                  <a:tcPr>
                    <a:solidFill>
                      <a:srgbClr val="141D30"/>
                    </a:solidFill>
                  </a:tcPr>
                </a:tc>
                <a:tc>
                  <a:txBody>
                    <a:bodyPr/>
                    <a:lstStyle/>
                    <a:p>
                      <a:pPr>
                        <a:defRPr sz="950" b="0">
                          <a:solidFill>
                            <a:srgbClr val="E2E8F0"/>
                          </a:solidFill>
                        </a:defRPr>
                      </a:pPr>
                      <a:r>
                        <a:t>Estratificação estrita por paciente (64% / 20% / 16%)</a:t>
                      </a:r>
                    </a:p>
                  </a:txBody>
                  <a:tcPr>
                    <a:solidFill>
                      <a:srgbClr val="141D30"/>
                    </a:solidFill>
                  </a:tcPr>
                </a:tc>
              </a:tr>
              <a:tr h="228600">
                <a:tc>
                  <a:txBody>
                    <a:bodyPr/>
                    <a:lstStyle/>
                    <a:p>
                      <a:pPr>
                        <a:defRPr sz="950" b="0">
                          <a:solidFill>
                            <a:srgbClr val="E2E8F0"/>
                          </a:solidFill>
                        </a:defRPr>
                      </a:pPr>
                      <a:r>
                        <a:t>Balanceamento</a:t>
                      </a:r>
                    </a:p>
                  </a:txBody>
                  <a:tcPr>
                    <a:solidFill>
                      <a:srgbClr val="161E31"/>
                    </a:solidFill>
                  </a:tcPr>
                </a:tc>
                <a:tc>
                  <a:txBody>
                    <a:bodyPr/>
                    <a:lstStyle/>
                    <a:p>
                      <a:pPr>
                        <a:defRPr sz="950" b="0">
                          <a:solidFill>
                            <a:srgbClr val="E2E8F0"/>
                          </a:solidFill>
                        </a:defRPr>
                      </a:pPr>
                      <a:r>
                        <a:t>Pesos de classe na perda ($w_c \in [0.86, 1.21]$)</a:t>
                      </a:r>
                    </a:p>
                  </a:txBody>
                  <a:tcPr>
                    <a:solidFill>
                      <a:srgbClr val="161E31"/>
                    </a:solidFill>
                  </a:tcPr>
                </a:tc>
                <a:tc>
                  <a:txBody>
                    <a:bodyPr/>
                    <a:lstStyle/>
                    <a:p>
                      <a:pPr>
                        <a:defRPr sz="950" b="0">
                          <a:solidFill>
                            <a:srgbClr val="E2E8F0"/>
                          </a:solidFill>
                        </a:defRPr>
                      </a:pPr>
                      <a:r>
                        <a:t>Híbrido: Oversampling (Albumentations) + Undersampling</a:t>
                      </a:r>
                    </a:p>
                  </a:txBody>
                  <a:tcPr>
                    <a:solidFill>
                      <a:srgbClr val="161E31"/>
                    </a:solidFill>
                  </a:tcPr>
                </a:tc>
              </a:tr>
              <a:tr h="228600">
                <a:tc>
                  <a:txBody>
                    <a:bodyPr/>
                    <a:lstStyle/>
                    <a:p>
                      <a:pPr>
                        <a:defRPr sz="950" b="0">
                          <a:solidFill>
                            <a:srgbClr val="E2E8F0"/>
                          </a:solidFill>
                        </a:defRPr>
                      </a:pPr>
                      <a:r>
                        <a:t>Paradigma</a:t>
                      </a:r>
                    </a:p>
                  </a:txBody>
                  <a:tcPr>
                    <a:solidFill>
                      <a:srgbClr val="141D30"/>
                    </a:solidFill>
                  </a:tcPr>
                </a:tc>
                <a:tc>
                  <a:txBody>
                    <a:bodyPr/>
                    <a:lstStyle/>
                    <a:p>
                      <a:pPr>
                        <a:defRPr sz="950" b="0">
                          <a:solidFill>
                            <a:srgbClr val="E2E8F0"/>
                          </a:solidFill>
                        </a:defRPr>
                      </a:pPr>
                      <a:r>
                        <a:t>Rede Neural Convolucional (CNN) adaptada</a:t>
                      </a:r>
                    </a:p>
                  </a:txBody>
                  <a:tcPr>
                    <a:solidFill>
                      <a:srgbClr val="141D30"/>
                    </a:solidFill>
                  </a:tcPr>
                </a:tc>
                <a:tc>
                  <a:txBody>
                    <a:bodyPr/>
                    <a:lstStyle/>
                    <a:p>
                      <a:pPr>
                        <a:defRPr sz="950" b="0">
                          <a:solidFill>
                            <a:srgbClr val="E2E8F0"/>
                          </a:solidFill>
                        </a:defRPr>
                      </a:pPr>
                      <a:r>
                        <a:t>Vision Transformer (ViT) com Autoatenção</a:t>
                      </a:r>
                    </a:p>
                  </a:txBody>
                  <a:tcPr>
                    <a:solidFill>
                      <a:srgbClr val="141D30"/>
                    </a:solidFill>
                  </a:tcPr>
                </a:tc>
              </a:tr>
              <a:tr h="228600">
                <a:tc>
                  <a:txBody>
                    <a:bodyPr/>
                    <a:lstStyle/>
                    <a:p>
                      <a:pPr>
                        <a:defRPr sz="950" b="0">
                          <a:solidFill>
                            <a:srgbClr val="E2E8F0"/>
                          </a:solidFill>
                        </a:defRPr>
                      </a:pPr>
                      <a:r>
                        <a:t>Origem dos Pesos</a:t>
                      </a:r>
                    </a:p>
                  </a:txBody>
                  <a:tcPr>
                    <a:solidFill>
                      <a:srgbClr val="161E31"/>
                    </a:solidFill>
                  </a:tcPr>
                </a:tc>
                <a:tc>
                  <a:txBody>
                    <a:bodyPr/>
                    <a:lstStyle/>
                    <a:p>
                      <a:pPr>
                        <a:defRPr sz="950" b="0">
                          <a:solidFill>
                            <a:srgbClr val="E2E8F0"/>
                          </a:solidFill>
                        </a:defRPr>
                      </a:pPr>
                      <a:r>
                        <a:t>Treinado do zero (from scratch)</a:t>
                      </a:r>
                    </a:p>
                  </a:txBody>
                  <a:tcPr>
                    <a:solidFill>
                      <a:srgbClr val="161E31"/>
                    </a:solidFill>
                  </a:tcPr>
                </a:tc>
                <a:tc>
                  <a:txBody>
                    <a:bodyPr/>
                    <a:lstStyle/>
                    <a:p>
                      <a:pPr>
                        <a:defRPr sz="950" b="0">
                          <a:solidFill>
                            <a:srgbClr val="E2E8F0"/>
                          </a:solidFill>
                        </a:defRPr>
                      </a:pPr>
                      <a:r>
                        <a:t>Fine-Tuning com pré-treino na ImageNet-21k</a:t>
                      </a:r>
                    </a:p>
                  </a:txBody>
                  <a:tcPr>
                    <a:solidFill>
                      <a:srgbClr val="161E31"/>
                    </a:solidFill>
                  </a:tcPr>
                </a:tc>
              </a:tr>
              <a:tr h="228600">
                <a:tc>
                  <a:txBody>
                    <a:bodyPr/>
                    <a:lstStyle/>
                    <a:p>
                      <a:pPr>
                        <a:defRPr sz="950" b="0">
                          <a:solidFill>
                            <a:srgbClr val="E2E8F0"/>
                          </a:solidFill>
                        </a:defRPr>
                      </a:pPr>
                      <a:r>
                        <a:t>Extração Espacial</a:t>
                      </a:r>
                    </a:p>
                  </a:txBody>
                  <a:tcPr>
                    <a:solidFill>
                      <a:srgbClr val="141D30"/>
                    </a:solidFill>
                  </a:tcPr>
                </a:tc>
                <a:tc>
                  <a:txBody>
                    <a:bodyPr/>
                    <a:lstStyle/>
                    <a:p>
                      <a:pPr>
                        <a:defRPr sz="950" b="0">
                          <a:solidFill>
                            <a:srgbClr val="E2E8F0"/>
                          </a:solidFill>
                        </a:defRPr>
                      </a:pPr>
                      <a:r>
                        <a:t>Convoluções contínuas $3 \times 3$ em toda a imagem</a:t>
                      </a:r>
                    </a:p>
                  </a:txBody>
                  <a:tcPr>
                    <a:solidFill>
                      <a:srgbClr val="141D30"/>
                    </a:solidFill>
                  </a:tcPr>
                </a:tc>
                <a:tc>
                  <a:txBody>
                    <a:bodyPr/>
                    <a:lstStyle/>
                    <a:p>
                      <a:pPr>
                        <a:defRPr sz="950" b="0">
                          <a:solidFill>
                            <a:srgbClr val="E2E8F0"/>
                          </a:solidFill>
                        </a:defRPr>
                      </a:pPr>
                      <a:r>
                        <a:t>Grid Regular convencional vs. 5 Métodos Dinâmicos</a:t>
                      </a:r>
                    </a:p>
                  </a:txBody>
                  <a:tcPr>
                    <a:solidFill>
                      <a:srgbClr val="141D30"/>
                    </a:solidFill>
                  </a:tcPr>
                </a:tc>
              </a:tr>
              <a:tr h="228600">
                <a:tc>
                  <a:txBody>
                    <a:bodyPr/>
                    <a:lstStyle/>
                    <a:p>
                      <a:pPr>
                        <a:defRPr sz="950" b="0">
                          <a:solidFill>
                            <a:srgbClr val="E2E8F0"/>
                          </a:solidFill>
                        </a:defRPr>
                      </a:pPr>
                      <a:r>
                        <a:t>Projeção Entrada</a:t>
                      </a:r>
                    </a:p>
                  </a:txBody>
                  <a:tcPr>
                    <a:solidFill>
                      <a:srgbClr val="161E31"/>
                    </a:solidFill>
                  </a:tcPr>
                </a:tc>
                <a:tc>
                  <a:txBody>
                    <a:bodyPr/>
                    <a:lstStyle/>
                    <a:p>
                      <a:pPr>
                        <a:defRPr sz="950" b="0">
                          <a:solidFill>
                            <a:srgbClr val="E2E8F0"/>
                          </a:solidFill>
                        </a:defRPr>
                      </a:pPr>
                      <a:r>
                        <a:t>Convolucional pura contínua</a:t>
                      </a:r>
                    </a:p>
                  </a:txBody>
                  <a:tcPr>
                    <a:solidFill>
                      <a:srgbClr val="161E31"/>
                    </a:solidFill>
                  </a:tcPr>
                </a:tc>
                <a:tc>
                  <a:txBody>
                    <a:bodyPr/>
                    <a:lstStyle/>
                    <a:p>
                      <a:pPr>
                        <a:defRPr sz="950" b="0">
                          <a:solidFill>
                            <a:srgbClr val="E2E8F0"/>
                          </a:solidFill>
                        </a:defRPr>
                      </a:pPr>
                      <a:r>
                        <a:t>Projeção Linear pura vs. Projeção Convolucional (Conv2D)</a:t>
                      </a:r>
                    </a:p>
                  </a:txBody>
                  <a:tcPr>
                    <a:solidFill>
                      <a:srgbClr val="161E31"/>
                    </a:solidFill>
                  </a:tcPr>
                </a:tc>
              </a:tr>
              <a:tr h="228600">
                <a:tc>
                  <a:txBody>
                    <a:bodyPr/>
                    <a:lstStyle/>
                    <a:p>
                      <a:pPr>
                        <a:defRPr sz="950" b="0">
                          <a:solidFill>
                            <a:srgbClr val="E2E8F0"/>
                          </a:solidFill>
                        </a:defRPr>
                      </a:pPr>
                      <a:r>
                        <a:t>Pegada Computacional</a:t>
                      </a:r>
                    </a:p>
                  </a:txBody>
                  <a:tcPr>
                    <a:solidFill>
                      <a:srgbClr val="141D30"/>
                    </a:solidFill>
                  </a:tcPr>
                </a:tc>
                <a:tc>
                  <a:txBody>
                    <a:bodyPr/>
                    <a:lstStyle/>
                    <a:p>
                      <a:pPr>
                        <a:defRPr sz="950" b="0">
                          <a:solidFill>
                            <a:srgbClr val="E2E8F0"/>
                          </a:solidFill>
                        </a:defRPr>
                      </a:pPr>
                      <a:r>
                        <a:t>Muito leve: 3 blocos Conv, rápida em CPU/GPU modesta</a:t>
                      </a:r>
                    </a:p>
                  </a:txBody>
                  <a:tcPr>
                    <a:solidFill>
                      <a:srgbClr val="141D30"/>
                    </a:solidFill>
                  </a:tcPr>
                </a:tc>
                <a:tc>
                  <a:txBody>
                    <a:bodyPr/>
                    <a:lstStyle/>
                    <a:p>
                      <a:pPr>
                        <a:defRPr sz="950" b="0">
                          <a:solidFill>
                            <a:srgbClr val="E2E8F0"/>
                          </a:solidFill>
                        </a:defRPr>
                      </a:pPr>
                      <a:r>
                        <a:t>Pesada: ViT-Small (RTX 2060 6GB) e ViT-Base (Colab T4 15GB)</a:t>
                      </a:r>
                    </a:p>
                  </a:txBody>
                  <a:tcPr>
                    <a:solidFill>
                      <a:srgbClr val="141D30"/>
                    </a:solidFill>
                  </a:tcPr>
                </a:tc>
              </a:tr>
              <a:tr h="228600">
                <a:tc>
                  <a:txBody>
                    <a:bodyPr/>
                    <a:lstStyle/>
                    <a:p>
                      <a:pPr>
                        <a:defRPr sz="950" b="0">
                          <a:solidFill>
                            <a:srgbClr val="E2E8F0"/>
                          </a:solidFill>
                        </a:defRPr>
                      </a:pPr>
                      <a:r>
                        <a:t>Explicabilidade (XAI)</a:t>
                      </a:r>
                    </a:p>
                  </a:txBody>
                  <a:tcPr>
                    <a:solidFill>
                      <a:srgbClr val="161E31"/>
                    </a:solidFill>
                  </a:tcPr>
                </a:tc>
                <a:tc>
                  <a:txBody>
                    <a:bodyPr/>
                    <a:lstStyle/>
                    <a:p>
                      <a:pPr>
                        <a:defRPr sz="950" b="0">
                          <a:solidFill>
                            <a:srgbClr val="E2E8F0"/>
                          </a:solidFill>
                        </a:defRPr>
                      </a:pPr>
                      <a:r>
                        <a:t>Grad-CAM com validação cruzada em base externa</a:t>
                      </a:r>
                    </a:p>
                  </a:txBody>
                  <a:tcPr>
                    <a:solidFill>
                      <a:srgbClr val="161E31"/>
                    </a:solidFill>
                  </a:tcPr>
                </a:tc>
                <a:tc>
                  <a:txBody>
                    <a:bodyPr/>
                    <a:lstStyle/>
                    <a:p>
                      <a:pPr>
                        <a:defRPr sz="950" b="0">
                          <a:solidFill>
                            <a:srgbClr val="E2E8F0"/>
                          </a:solidFill>
                        </a:defRPr>
                      </a:pPr>
                      <a:r>
                        <a:t>Rastreamento geométrico da distribuição dos patches</a:t>
                      </a:r>
                    </a:p>
                  </a:txBody>
                  <a:tcPr>
                    <a:solidFill>
                      <a:srgbClr val="161E31"/>
                    </a:solidFill>
                  </a:tcPr>
                </a:tc>
              </a:tr>
              <a:tr h="228600">
                <a:tc>
                  <a:txBody>
                    <a:bodyPr/>
                    <a:lstStyle/>
                    <a:p>
                      <a:pPr>
                        <a:defRPr sz="950" b="0">
                          <a:solidFill>
                            <a:srgbClr val="E2E8F0"/>
                          </a:solidFill>
                        </a:defRPr>
                      </a:pPr>
                      <a:r>
                        <a:t>Desempenho Final</a:t>
                      </a:r>
                    </a:p>
                  </a:txBody>
                  <a:tcPr>
                    <a:solidFill>
                      <a:srgbClr val="141D30"/>
                    </a:solidFill>
                  </a:tcPr>
                </a:tc>
                <a:tc>
                  <a:txBody>
                    <a:bodyPr/>
                    <a:lstStyle/>
                    <a:p>
                      <a:pPr>
                        <a:defRPr sz="950" b="0">
                          <a:solidFill>
                            <a:srgbClr val="E2E8F0"/>
                          </a:solidFill>
                        </a:defRPr>
                      </a:pPr>
                      <a:r>
                        <a:t>Acurácia Global: 99,0% (F1: 1,00 em Glioma)</a:t>
                      </a:r>
                    </a:p>
                  </a:txBody>
                  <a:tcPr>
                    <a:solidFill>
                      <a:srgbClr val="141D30"/>
                    </a:solidFill>
                  </a:tcPr>
                </a:tc>
                <a:tc>
                  <a:txBody>
                    <a:bodyPr/>
                    <a:lstStyle/>
                    <a:p>
                      <a:pPr>
                        <a:defRPr sz="950" b="0">
                          <a:solidFill>
                            <a:srgbClr val="E2E8F0"/>
                          </a:solidFill>
                        </a:defRPr>
                      </a:pPr>
                      <a:r>
                        <a:t>Acurácia: 79,0% (Baseline) / 78,0% (Espiral Conv2D)</a:t>
                      </a:r>
                    </a:p>
                  </a:txBody>
                  <a:tcPr>
                    <a:solidFill>
                      <a:srgbClr val="141D30"/>
                    </a:solidFill>
                  </a:tcPr>
                </a:tc>
              </a:tr>
            </a:tbl>
          </a:graphicData>
        </a:graphic>
      </p:graphicFrame>
      <p:sp>
        <p:nvSpPr>
          <p:cNvPr id="8" name="TextBox 7"/>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9" name="TextBox 8"/>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BLOCO 3 • AUDITORIA METODOLÓGICA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3  |  ⏱️ 27:45 - 29:15</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Auditoria de Protocolos: Slice Leakage vs. Patient Split</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Avaliação Crítica da Integridade Científica das Partições de Treino e Teste</a:t>
            </a:r>
          </a:p>
        </p:txBody>
      </p:sp>
      <p:sp>
        <p:nvSpPr>
          <p:cNvPr id="7" name="Rounded Rectangle 6"/>
          <p:cNvSpPr/>
          <p:nvPr/>
        </p:nvSpPr>
        <p:spPr>
          <a:xfrm>
            <a:off x="7315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O particionamento por código de paciente é a blindagem metodológica perfeita na citopatologia.</a:t>
            </a:r>
          </a:p>
          <a:p>
            <a:pPr>
              <a:spcBef>
                <a:spcPts val="300"/>
              </a:spcBef>
              <a:defRPr sz="1100">
                <a:solidFill>
                  <a:srgbClr val="E2E8F0"/>
                </a:solidFill>
              </a:defRPr>
            </a:pPr>
            <a:r>
              <a:t>• Impede que características idiossincráticas de coloração da lâmina, intensidade do esfregaço e tempo de fixação sejam aprendidas como atalhos espúrios.</a:t>
            </a:r>
          </a:p>
          <a:p>
            <a:pPr>
              <a:spcBef>
                <a:spcPts val="300"/>
              </a:spcBef>
              <a:defRPr sz="1100">
                <a:solidFill>
                  <a:srgbClr val="E2E8F0"/>
                </a:solidFill>
              </a:defRPr>
            </a:pPr>
            <a:r>
              <a:t>• Se a acurácia é 79%, trata-se de um 79% honesto, clínico e auditável em pacientes que o algoritmo jamais viu.</a:t>
            </a:r>
          </a:p>
        </p:txBody>
      </p:sp>
      <p:sp>
        <p:nvSpPr>
          <p:cNvPr id="8" name="Rounded Rectangle 7"/>
          <p:cNvSpPr/>
          <p:nvPr/>
        </p:nvSpPr>
        <p:spPr>
          <a:xfrm>
            <a:off x="62179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O benchmark público do Kaggle particionou as imagens fatiadas em nível de arquivo 2D.</a:t>
            </a:r>
          </a:p>
          <a:p>
            <a:pPr>
              <a:spcBef>
                <a:spcPts val="300"/>
              </a:spcBef>
              <a:defRPr sz="1100">
                <a:solidFill>
                  <a:srgbClr val="E2E8F0"/>
                </a:solidFill>
              </a:defRPr>
            </a:pPr>
            <a:r>
              <a:t>• Risco de Vazamento de Fatias (Slice Leakage): Fatias axiais contíguas do mesmo encéfalo ($z=14$ e $z=15$) podem ter caído simultaneamente no treino e no teste, inflando o desempenho para 99%.</a:t>
            </a:r>
          </a:p>
          <a:p>
            <a:pPr>
              <a:spcBef>
                <a:spcPts val="300"/>
              </a:spcBef>
              <a:defRPr sz="1100">
                <a:solidFill>
                  <a:srgbClr val="E2E8F0"/>
                </a:solidFill>
              </a:defRPr>
            </a:pPr>
            <a:r>
              <a:t>• O Fator Atenuante: Os autores da UFCSPA contornaram parcialmente essa dúvida ao validar o Grad-CAM em uma base externa inédita (Bhuvaji et al.), onde o modelo manteve o foco correto na lesão.</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BLOCO 3 • PRESCRIÇÃO PRÁTICA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3  |  ⏱️ 29:15 - 30:45</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Árvore de Decisão: Quando Usar CNN ou ViT na Saúde?</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Diretrizes Prescritivas de Engenharia de Software e Visão Computacional</a:t>
            </a:r>
          </a:p>
        </p:txBody>
      </p:sp>
      <p:sp>
        <p:nvSpPr>
          <p:cNvPr id="7" name="Rounded Rectangle 6"/>
          <p:cNvSpPr/>
          <p:nvPr/>
        </p:nvSpPr>
        <p:spPr>
          <a:xfrm>
            <a:off x="731520" y="1965960"/>
            <a:ext cx="52120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p:txBody>
      </p:sp>
      <p:sp>
        <p:nvSpPr>
          <p:cNvPr id="8" name="Rounded Rectangle 7"/>
          <p:cNvSpPr/>
          <p:nvPr/>
        </p:nvSpPr>
        <p:spPr>
          <a:xfrm>
            <a:off x="62179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Hospitais Regionais e Postos de Saúde (Edge): Modelos convolucionais leves (Artigo 1) operando em $64 \times 64$ são imbatíveis: rodam em milissegundos sem conexão de nuvem e geram mapas Grad-CAM transparentes.</a:t>
            </a:r>
          </a:p>
          <a:p>
            <a:pPr>
              <a:spcBef>
                <a:spcPts val="300"/>
              </a:spcBef>
              <a:defRPr sz="1100">
                <a:solidFill>
                  <a:srgbClr val="E2E8F0"/>
                </a:solidFill>
              </a:defRPr>
            </a:pPr>
            <a:r>
              <a:t>• Lâminas Inteiras (Whole Slide Imaging - WSI): Vision Transformers hierárquicos (Swin Transformer) são promissores para integrar contexto tecidual de grande escala, desde que mantenham o Grid Regular com Projeção Convolucional.</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BLOCO 3 • FILOSOFIA DA CIÊNCIA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3  |  ⏱️ 30:45 - 32:00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O Valor Epistemológico do Resultado Negativo</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Superando o Viés de Publicação na Inteligência Artificial</a:t>
            </a:r>
          </a:p>
        </p:txBody>
      </p:sp>
      <p:sp>
        <p:nvSpPr>
          <p:cNvPr id="7" name="Rounded Rectangle 6"/>
          <p:cNvSpPr/>
          <p:nvPr/>
        </p:nvSpPr>
        <p:spPr>
          <a:xfrm>
            <a:off x="731520" y="1965960"/>
            <a:ext cx="52120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Na literatura de aprendizado de máquina, existe um vício crônico de publicação (publication bias): artigos só são aceitos quando superam o estado da arte com acurácias recordistas.</a:t>
            </a:r>
          </a:p>
          <a:p>
            <a:pPr>
              <a:spcBef>
                <a:spcPts val="300"/>
              </a:spcBef>
              <a:defRPr sz="1100">
                <a:solidFill>
                  <a:srgbClr val="E2E8F0"/>
                </a:solidFill>
              </a:defRPr>
            </a:pPr>
            <a:r>
              <a:t>• O Artigo 2 (PUC Minas / UFMG) possui mérito científico exemplar: testou uma hipótese logicamente atraente (concentração dinâmica de patches) sob rigoroso controle experimental e demonstrou matematicamente por que ela falha.</a:t>
            </a:r>
          </a:p>
          <a:p>
            <a:pPr>
              <a:spcBef>
                <a:spcPts val="300"/>
              </a:spcBef>
              <a:defRPr sz="1100">
                <a:solidFill>
                  <a:srgbClr val="E2E8F0"/>
                </a:solidFill>
              </a:defRPr>
            </a:pPr>
            <a:r>
              <a:t>• Impacto na Comunidade: Evita que outros grupos de pesquisa desperdicem meses de trabalho e poder de supercomputação em abordagens similares sem compensação de embeddings.</a:t>
            </a:r>
          </a:p>
        </p:txBody>
      </p:sp>
      <p:sp>
        <p:nvSpPr>
          <p:cNvPr id="8" name="Rounded Rectangle 7"/>
          <p:cNvSpPr/>
          <p:nvPr/>
        </p:nvSpPr>
        <p:spPr>
          <a:xfrm>
            <a:off x="6217920" y="1965960"/>
            <a:ext cx="5212080" cy="4206240"/>
          </a:xfrm>
          <a:prstGeom prst="roundRect">
            <a:avLst/>
          </a:prstGeom>
          <a:solidFill>
            <a:srgbClr val="161E31"/>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1. Curadoria de Dados Supera Parâmetros: A higienização dos rótulos com o Figshare no Artigo 1 foi mais determinante para os 99% do que qualquer ajuste fino de hiperparâmetros.</a:t>
            </a:r>
          </a:p>
          <a:p>
            <a:pPr>
              <a:spcBef>
                <a:spcPts val="300"/>
              </a:spcBef>
              <a:defRPr sz="1100">
                <a:solidFill>
                  <a:srgbClr val="E2E8F0"/>
                </a:solidFill>
              </a:defRPr>
            </a:pPr>
            <a:r>
              <a:t>• 2. O Hype do Transformer Não Anula a Convolução: Em dados biomédicos pequenos, o viés indutivo clássico ainda é o melhor aliado do cientista de dados.</a:t>
            </a:r>
          </a:p>
          <a:p>
            <a:pPr>
              <a:spcBef>
                <a:spcPts val="300"/>
              </a:spcBef>
              <a:defRPr sz="1100">
                <a:solidFill>
                  <a:srgbClr val="E2E8F0"/>
                </a:solidFill>
              </a:defRPr>
            </a:pPr>
            <a:r>
              <a:t>• 3. A Hibridização é o Futuro: A projeção convolucional salvou os patches dinâmicos, provando que a união entre convoluções locais e atenção global é o caminho dominante.</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a:r>
              <a:rPr b="1" sz="1100">
                <a:solidFill>
                  <a:srgbClr val="38BDF8"/>
                </a:solidFill>
              </a:rPr>
              <a:t>● BLOCO 3 • CONCLUSÕES FINAIS  </a:t>
            </a:r>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Aluno 3  |  ⏱️ 32:00 - 33:30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400">
                <a:solidFill>
                  <a:srgbClr val="38BDF8"/>
                </a:solidFill>
              </a:defRPr>
            </a:pPr>
            <a:r>
              <a:t>Conclusões Finais e Perspectivas Futuras</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Síntese do Grupo 4 e Próximos Passos na Fronteira da Pesquisa</a:t>
            </a:r>
          </a:p>
        </p:txBody>
      </p:sp>
      <p:sp>
        <p:nvSpPr>
          <p:cNvPr id="7" name="Rounded Rectangle 6"/>
          <p:cNvSpPr/>
          <p:nvPr/>
        </p:nvSpPr>
        <p:spPr>
          <a:xfrm>
            <a:off x="731520" y="1965960"/>
            <a:ext cx="52120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Artigo 1 (UFCSPA): Provou que uma CNN leve inspirada na AlexNet, combinada com auditoria de dados e Dropout progressivo, atinge 99% de acurácia com 100% de sensibilidade para gliomas e custo computacional quase nulo.</a:t>
            </a:r>
          </a:p>
          <a:p>
            <a:pPr>
              <a:spcBef>
                <a:spcPts val="300"/>
              </a:spcBef>
              <a:defRPr sz="1100">
                <a:solidFill>
                  <a:srgbClr val="E2E8F0"/>
                </a:solidFill>
              </a:defRPr>
            </a:pPr>
            <a:r>
              <a:t>• Artigo 2 (PUC Minas/UFMG): Provou que o Grid Regular com Projeção Convolucional (79%) supera abordagens dinâmicas na citopatologia devido à redundância e ruptura de embeddings.</a:t>
            </a:r>
          </a:p>
          <a:p>
            <a:pPr>
              <a:spcBef>
                <a:spcPts val="300"/>
              </a:spcBef>
              <a:defRPr sz="1100">
                <a:solidFill>
                  <a:srgbClr val="E2E8F0"/>
                </a:solidFill>
              </a:defRPr>
            </a:pPr>
            <a:r>
              <a:t>• O Veredito Teórico: Redes Convolucionais continuam superiores em datasets médicos de pequeno porte graças ao viés de localidade e baixa fome de dados.</a:t>
            </a:r>
          </a:p>
        </p:txBody>
      </p:sp>
      <p:sp>
        <p:nvSpPr>
          <p:cNvPr id="8" name="Rounded Rectangle 7"/>
          <p:cNvSpPr/>
          <p:nvPr/>
        </p:nvSpPr>
        <p:spPr>
          <a:xfrm>
            <a:off x="6217920" y="1965960"/>
            <a:ext cx="5212080" cy="4206240"/>
          </a:xfrm>
          <a:prstGeom prst="roundRect">
            <a:avLst/>
          </a:prstGeom>
          <a:solidFill>
            <a:srgbClr val="161E31"/>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300"/>
              </a:spcBef>
              <a:defRPr sz="1100">
                <a:solidFill>
                  <a:srgbClr val="E2E8F0"/>
                </a:solidFill>
              </a:defRPr>
            </a:pPr>
            <a:r>
              <a:t>• Swin Transformer na Citopatologia: Atenção em janelas locais deslocadas (Shifted Windows) para unir o viés local convolucional com a flexibilidade da autoatenção.</a:t>
            </a:r>
          </a:p>
          <a:p>
            <a:pPr>
              <a:spcBef>
                <a:spcPts val="300"/>
              </a:spcBef>
              <a:defRPr sz="1100">
                <a:solidFill>
                  <a:srgbClr val="E2E8F0"/>
                </a:solidFill>
              </a:defRPr>
            </a:pPr>
            <a:r>
              <a:t>• Positional Embeddings Deformáveis / 2D Radiais: Caso se utilize a extração em espiral, calcular embeddings senoidais contínuos baseados na distância radial euclidiana real até o núcleo.</a:t>
            </a:r>
          </a:p>
          <a:p>
            <a:pPr>
              <a:spcBef>
                <a:spcPts val="300"/>
              </a:spcBef>
              <a:defRPr sz="1100">
                <a:solidFill>
                  <a:srgbClr val="E2E8F0"/>
                </a:solidFill>
              </a:defRPr>
            </a:pPr>
            <a:r>
              <a:t>• Aumento Sintético com Modelos de Difusão: Sintetizar células atípicas raras (SCC) para saciar a fome de dados dos Transformers em bases médicas balanceadas.</a:t>
            </a:r>
          </a:p>
        </p:txBody>
      </p:sp>
      <p:sp>
        <p:nvSpPr>
          <p:cNvPr id="9" name="TextBox 8"/>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10" name="TextBox 9"/>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6400800" cy="365760"/>
          </a:xfrm>
          <a:prstGeom prst="rect">
            <a:avLst/>
          </a:prstGeom>
          <a:noFill/>
        </p:spPr>
        <p:txBody>
          <a:bodyPr wrap="square">
            <a:spAutoFit/>
          </a:bodyPr>
          <a:lstStyle/>
          <a:p/>
        </p:txBody>
      </p:sp>
      <p:sp>
        <p:nvSpPr>
          <p:cNvPr id="4" name="TextBox 3"/>
          <p:cNvSpPr txBox="1"/>
          <p:nvPr/>
        </p:nvSpPr>
        <p:spPr>
          <a:xfrm>
            <a:off x="7315200" y="365760"/>
            <a:ext cx="4114800" cy="365760"/>
          </a:xfrm>
          <a:prstGeom prst="rect">
            <a:avLst/>
          </a:prstGeom>
          <a:noFill/>
        </p:spPr>
        <p:txBody>
          <a:bodyPr wrap="square">
            <a:spAutoFit/>
          </a:bodyPr>
          <a:lstStyle/>
          <a:p>
            <a:pPr algn="r"/>
            <a:r>
              <a:rPr b="1" sz="1100">
                <a:solidFill>
                  <a:srgbClr val="34D399"/>
                </a:solidFill>
              </a:rPr>
              <a:t>👤 Trio  |  ⏱️ 33:30 - 35:00</a:t>
            </a:r>
          </a:p>
        </p:txBody>
      </p:sp>
      <p:sp>
        <p:nvSpPr>
          <p:cNvPr id="5" name="TextBox 4"/>
          <p:cNvSpPr txBox="1"/>
          <p:nvPr/>
        </p:nvSpPr>
        <p:spPr>
          <a:xfrm>
            <a:off x="731520" y="777240"/>
            <a:ext cx="10698480" cy="731520"/>
          </a:xfrm>
          <a:prstGeom prst="rect">
            <a:avLst/>
          </a:prstGeom>
          <a:noFill/>
        </p:spPr>
        <p:txBody>
          <a:bodyPr wrap="square">
            <a:spAutoFit/>
          </a:bodyPr>
          <a:lstStyle/>
          <a:p>
            <a:pPr>
              <a:defRPr b="1" sz="2800">
                <a:solidFill>
                  <a:srgbClr val="F8FAFC"/>
                </a:solidFill>
              </a:defRPr>
            </a:pPr>
            <a:r>
              <a:t>Muito Obrigado pela Atenção!</a:t>
            </a:r>
          </a:p>
        </p:txBody>
      </p:sp>
      <p:sp>
        <p:nvSpPr>
          <p:cNvPr id="6" name="TextBox 5"/>
          <p:cNvSpPr txBox="1"/>
          <p:nvPr/>
        </p:nvSpPr>
        <p:spPr>
          <a:xfrm>
            <a:off x="731520" y="1417320"/>
            <a:ext cx="10698480" cy="411480"/>
          </a:xfrm>
          <a:prstGeom prst="rect">
            <a:avLst/>
          </a:prstGeom>
          <a:noFill/>
        </p:spPr>
        <p:txBody>
          <a:bodyPr wrap="square">
            <a:spAutoFit/>
          </a:bodyPr>
          <a:lstStyle/>
          <a:p>
            <a:pPr>
              <a:defRPr sz="1300">
                <a:solidFill>
                  <a:srgbClr val="94A3B8"/>
                </a:solidFill>
              </a:defRPr>
            </a:pPr>
            <a:r>
              <a:t>Apresentação Concluída rigorosamente dentro do prazo regulamentar.</a:t>
            </a:r>
          </a:p>
        </p:txBody>
      </p:sp>
      <p:sp>
        <p:nvSpPr>
          <p:cNvPr id="7" name="Rounded Rectangle 6"/>
          <p:cNvSpPr/>
          <p:nvPr/>
        </p:nvSpPr>
        <p:spPr>
          <a:xfrm>
            <a:off x="731520" y="1965960"/>
            <a:ext cx="10698480" cy="4206240"/>
          </a:xfrm>
          <a:prstGeom prst="roundRect">
            <a:avLst/>
          </a:prstGeom>
          <a:solidFill>
            <a:srgbClr val="182640"/>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p>
          <a:p>
            <a:pPr>
              <a:spcBef>
                <a:spcPts val="400"/>
              </a:spcBef>
              <a:defRPr sz="1100">
                <a:solidFill>
                  <a:srgbClr val="94A3B8"/>
                </a:solidFill>
              </a:defRPr>
            </a:pPr>
            <a:r>
              <a:t>Universidade Federal do Piauí — UFPI</a:t>
            </a:r>
          </a:p>
          <a:p>
            <a:pPr>
              <a:spcBef>
                <a:spcPts val="400"/>
              </a:spcBef>
              <a:defRPr sz="1100">
                <a:solidFill>
                  <a:srgbClr val="94A3B8"/>
                </a:solidFill>
              </a:defRPr>
            </a:pPr>
            <a:r>
              <a:t>Disciplina: Tópicos Especiais em Visão Computacional</a:t>
            </a:r>
          </a:p>
          <a:p>
            <a:pPr>
              <a:spcBef>
                <a:spcPts val="400"/>
              </a:spcBef>
              <a:defRPr sz="1100">
                <a:solidFill>
                  <a:srgbClr val="94A3B8"/>
                </a:solidFill>
              </a:defRPr>
            </a:pPr>
            <a:r>
              <a:t>Docente Avaliador: Prof. Dr. José Denes Lima Araújo</a:t>
            </a:r>
          </a:p>
          <a:p>
            <a:pPr>
              <a:spcBef>
                <a:spcPts val="400"/>
              </a:spcBef>
              <a:defRPr sz="1100">
                <a:solidFill>
                  <a:srgbClr val="94A3B8"/>
                </a:solidFill>
              </a:defRPr>
            </a:pPr>
            <a:r>
              <a:t>Grupo 4: Integrante 1 (Aluno 1) • Integrante 2 (Aluno 2) • Integrante 3 (Aluno 3)</a:t>
            </a:r>
          </a:p>
        </p:txBody>
      </p:sp>
      <p:sp>
        <p:nvSpPr>
          <p:cNvPr id="8" name="TextBox 7"/>
          <p:cNvSpPr txBox="1"/>
          <p:nvPr/>
        </p:nvSpPr>
        <p:spPr>
          <a:xfrm>
            <a:off x="731520" y="6400800"/>
            <a:ext cx="7315200" cy="274320"/>
          </a:xfrm>
          <a:prstGeom prst="rect">
            <a:avLst/>
          </a:prstGeom>
          <a:noFill/>
        </p:spPr>
        <p:txBody>
          <a:bodyPr wrap="none">
            <a:spAutoFit/>
          </a:bodyPr>
          <a:lstStyle/>
          <a:p>
            <a:pPr>
              <a:defRPr sz="950">
                <a:solidFill>
                  <a:srgbClr val="64748B"/>
                </a:solidFill>
              </a:defRPr>
            </a:pPr>
            <a:r>
              <a:t>UFPI / CSHNB • Tópicos Especiais em Visão Computacional • Prof. Dr. José Denes Lima Araújo • Grupo 4</a:t>
            </a:r>
          </a:p>
        </p:txBody>
      </p:sp>
      <p:sp>
        <p:nvSpPr>
          <p:cNvPr id="9" name="TextBox 8"/>
          <p:cNvSpPr txBox="1"/>
          <p:nvPr/>
        </p:nvSpPr>
        <p:spPr>
          <a:xfrm>
            <a:off x="8686800" y="6400800"/>
            <a:ext cx="2743200" cy="274320"/>
          </a:xfrm>
          <a:prstGeom prst="rect">
            <a:avLst/>
          </a:prstGeom>
          <a:noFill/>
        </p:spPr>
        <p:txBody>
          <a:bodyPr wrap="none">
            <a:spAutoFit/>
          </a:bodyPr>
          <a:lstStyle/>
          <a:p>
            <a:pPr algn="r">
              <a:defRPr b="1" sz="950">
                <a:solidFill>
                  <a:srgbClr val="38BDF8"/>
                </a:solidFill>
              </a:defRPr>
            </a:pPr>
            <a:r>
              <a:t>Slide 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