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noite a todos. Sejam muito bem-vindos à apresentação do Trabalho Final do Grupo 4. Nosso tema é a reprodução científica do estudo de Sampaio e Cordeiro sobre o modelo GMIC e o desacoplamento de CAMs para detecção de massas em mamografia sob supervisão fraca.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1: O câncer de mama é a neoplasia mais mortal em mulheres no mundo. O diagnóstico precoce eleva a sobrevida acima de 90%. O grande obstáculo da mamografia é o mascaramento em mamas densas e a sobrecarga de imagens, justificando sistemas CAD robustos.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1: A supervisão total é inviável na medicina porque especialistas não têm tempo de marcar contornos manuais em milhões de imagens. O WSOD resolve isso: a rede aprende com o laudo global (normal vs doente) e deduz onde está a lesão na inferência.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1: O artigo de Sampaio e Cordeiro publicado na SBC testou se métodos modernos de saliência superam o CAM clássico no GMIC e investigou a inovação do desacoplamento treino-teste na base VinDr-Mammo.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1: O GMIC possui 3 módulos: a rede global ResNet-22 que olha o exame todo e gera o CAM; o extrator guloso de 6 patches locais nos picos de calor com supressão de vizinhança; a rede local ResNet-18 para detalhes finos; e a rede de fusão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1: A função de perda otimiza os três ramos conjuntamente. O termo chave é a regularização L1 com beta=3.26. Sem ela, o CAM cobre a mama inteira e o modelo colapsa. Agora passo a palavra ao Integrante 2 para falar dos CAMs e da 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Obrigado Integrante 1. Entrando na parte 2, temos o CAM clássico de Zhou, que depende de GAP e projeta pesos fixos, gerando manchas muito volumosas. O Grad-CAM usa médias de gradientes de 1a ordem, sendo mais flexível, mas muito pontual.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Os 3 métodos avançados são: Grad-CAM++, que calcula derivadas de 2a e 3a ordem e envolve o volume todo da lesão; XGrad-CAM, que pondera por ativações normalizadas e zera ruídos; e Layer-CAM, que agrega multicamadas mas gera muitos falsos positivos.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Aqui está a teoria central do trabalho: o desacoplamento. No treino, o CAM é um seletor de patches. O XGrad-CAM atua como um filtro cirúrgico, garantindo que a ResNet-18 receba apenas lesão. No teste, o Grad-CAM++ atua como um expansor para garantir IoU &gt;= 0.3.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Usamos o benchmark VinDr-Mammo. Para manter rigor, treinamos em 1.978 imagens perfeitamente balanceadas e testamos em 474. As caixas dos radiologistas foram estritamente isoladas durante todo o treinamento.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Implementamos uma base de código modular e limpa em PyTorch na pasta src, dividida em datasets, models, cams e evaluation, permitindo alternar os CAMs no treino e no teste via argumentos de linha de comando.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2: Para rodar imagens tão grandes sem estourar a memória de vídeo, utilizamos duas técnicas essenciais de engenharia: Automatic Mixed Precision em FP16 e Gradient Accumulation de 3 passos, reproduzindo o batch virtual de 6 imagens. Passo a palavra ao Integrante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3: Obrigado Integrante 2. Avaliamos a detecção nas 237 imagens de teste que contêm massa. O mapa de ativação é binarizado por limiares e gera bounding boxes. Se o IoU com o radiologista for &gt;= 0.3, consideramos verdadeiro 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3: Na classificação global no nível de imagem, o GMIC atingiu 80,12% de acurácia e 87,22% de AUC, demonstrando alta capacidade discriminativa ao separar mamas saudáveis de lesões antes da localização espacial.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3: Esta é a tabela mestra do trabalho. O baseline CAM com CAM dá 0.69 a 1.55 FPPI. Já a combinação desacoplada com XGrad-CAM no treino e Grad-CAM++ no teste atinge 0.70 TPR e derruba os falsos alarmes para 0.88 FPPI! O Layer-CAM colapsa gerando 4.19 falsos alarmes por imagem.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3: Na análise qualitativa, vemos claramente: o CAM tradicional mancha todo o parênquima fibroso; o Grad-CAM fica pequeno demais; o par XGrad no treino com Grad++ no teste sobrepõe com perfeição o ground truth verde com IoU alto.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3: Um ponto crítico que nosso trio identificou com rigor: na Tabela 1 do artigo original, a coluna chama-se FNR com 88,52%. Mas matematicamente FNR é 1 menos TPR, logo seria 28,12%. O valor de 88,52% é na verdade o TNR (Especificidade). Documentamos isso no relatório SBC.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3: Em termos clínicos, ter 0.88 falsos positivos por imagem é tolerável na triagem de 200 exames por dia. Já ter 4.19 falsos alarmes como no Layer-CAM geraria quase mil alarmes falsos diários, destruindo a utilidade do CAD.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 3: Concluindo nosso trabalho, confirmamos que o desacoplamento de CAMs é uma técnica de alto valor. O XGrad limpa o treino e o Grad++ cobre o teste. Para trabalhos futuros, sugerimos explorar Vision Transformers e auto-supervisão.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Trio reunido: Concluímos aqui nossa apresentação dentro dos 25 minutos previstos. Todos os três integrantes estão à disposição do Prof. José Denes para a sessão de arguição e perguntas. Muito obrigado!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Reprodução Científica e Análise de Desacoplamento de CAMs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Detecção Fracamente Supervisionada de Massas em Mamografia Digital (WSOD)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Integrante 1: Contextualização Clínica, WSOD &amp; Arquitetura GMIC (00:00 - 08:00)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Integrante 2: Taxonomia dos 5 CAMs, Desacoplamento &amp; Engenharia PyTorch (08:00 - 16:30)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Integrante 3: Experimentos, Detecção WSOD, Errata da Tabela 1 &amp; Conclusão (16:30 - 24:30)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Instituição: Universidade Federal do Piauí (UFPI) Campus: Senador Helvídio Nunes de Barros (CSHNB - Picos) Disciplina: Tópicos Especiais em Visão Computacional Docente: Prof. Dr. José Denes Lima Araújo Modalidade: Reprodução Experimental de Artigo Científico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Contexto Clínico e Desafio Radiológico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Câncer de Mama e os Limites do Rastreamento Mamográfico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Câncer mais incidente: Principal causa de morte oncológica feminina (OMS: 15,5% dos óbitos).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Estadiamento inicial é vital: Sobrevida &gt; 90% para tumores iniciais (&lt; 10 mm) versus &lt; 30% em metástases.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Mamografia Digital (FFDM): Padrão-ouro global para rastreamento populacional sistemático.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Fenômeno do Mascaramento: O tecido fibroglandular denso e os carcinomas malignos possuem coeficientes de atenuação radiológica quase idênticos.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Sutileza Morfológica: Bordas espiculadas e distorções arquiteturais de difícil identificação.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Fadiga do Especialista: Centenas de projeções diárias de alta resolução elevam omissões diagnósticas em até 30%.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O Paradigma de Supervisão Fraca (WSOD)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Weakly Supervised Object Detection: Rótulo Global vs Custo de Anotação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Requer anotações manuais precisas (polígonos e bounding boxes).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Custo financeiro proibitivo e centenas de horas de radiologistas seniores.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Forte divergência interobservador nas fronteiras da neoplasia.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Menos de 1% das imagens em hospitais possui anotações espaciais.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Treinamento realizado apenas com o rótulo da imagem: $y \in \{0, 1\}$ (Normal vs Massa).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Nenhuma coordenada espacial é fornecida durante o treino.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Meta: Classificar a imagem global e inferir bounding boxes espacialmente corretas ($\text{IoU} \ge 0.3$) no teste.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Permite treinar redes em bases massivas de exames clínicos reais já laudados.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O Artigo Reproduzido e a Questão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Sampaio &amp; Cordeiro (UFRPE, 2022) e a Inovação do Desacoplamento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Concebido por Shen et al. (Medical Image Analysis, 2021) para processar mamografias gigantes sem perda de resolução patológica.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Base de dados aberta internacional contendo 20.000 imagens FFDM anotadas por especialistas independentes.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 ativação ideal para orientar o recorte de patches no treino difere da ativação ideal para gerar bounding boxes no teste.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Arquitetura GMIC: Três Ramos Integrados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Globally-Aware Multiple Instance Classifier (Shen et al. / Sampaio &amp; Cordeiro)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Entrada: Imagem completa de alta resolução $x$ ($2944 \times 1920$).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Backbone: ResNet-22 customizada.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Gera o vetor global $h_g$ e a predição global $\hat{y}_{global}$.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Gera o Mapa de Ativação $A^c$ como mecanismo de atenção visual.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Busca gulosa nos $K=6$ picos de calor de $A^c$.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Aplica supressão de vizinhança espacial para evitar sobreposição.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Recorta 6 patches de $256 \times 256$ pixels na resolução original nativa.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Backbone: ResNet-18 extrai características morfológicas finas.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Agregação MIL por Max-Pooling $\implies h_{local}$.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Módulo de Fusão: Concatena $[h_g; h_l]$ em camadas lineares com Sigmoid final $\implies \hat{y}_{fusao}$.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Função de Perda Multi-Ramo &amp; Esparsidade $\beta$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Otimização Sinergética e Regularização L1 sobre o Mapa de Ativação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$\text{BCE}_{global}$: Obriga a ResNet-22 a aprender o padrão global da glândula.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$\text{BCE}_{local}$: Ensina a ResNet-18 a discriminar microestruturas nos patches.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$\text{BCE}_{fusao}$: Combina o contexto macroscópico com o detalhe microscópico.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$\mathcal{L}_{reg}(A^c) = \sum_{i=1}^{H_g} \sum_{j=1}^{W_g} |A_{i,j}^c|$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Hiperparâmetro Crítico: $\beta = 3.26$.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Justificativa Teórica: Sem o termo L1 ($\beta = 0$), o CAM expande-se sobre todo o parênquima sadio, gerando patches de tecido normal e colapso de precisão.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Taxonomia dos Mapas de Ativação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Fundamentos de Interpretabilidade e Saliência Visual Convolucional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Mecanismo: Projeção linear direta dos pesos sinápticos sobre as características convolutivas.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Limitação em Mamografia: Produz mapas excessivamente difusos e volumosos, cobrindo tecido normal adjacente.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Exige camada Global Average Pooling diretamente antes da FC: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Mecanismo: Universal para qualquer arquitetura convolucional arbitrária.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Comportamento: Concentra a atenção no centro de maior relevância, mas subestima bordas em lesões maiores.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Ponderação pela média espacial dos gradientes de 1ª ordem: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Taxonomia dos Mapas de Ativação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Formulações Avançadas: Derivadas Superiores e Axiomas de Conservação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Derivadas parciais analíticas de 2ª e 3ª ordens.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Pondera cada pixel individualmente na fronteira tumoral.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Destaque: Captura com fidelidade o halo e as margens espiculadas das massas.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Chattopadhay et al. (2018)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Baseado em axiomas de Sensibilidade e Conservação.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Gradientes escalados pela ativação normalizada $\frac{A_{i,j}^k}{\sum A^k}$.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Destaque: Elimina gradientes parasitas em áreas sadias; mapa limpo e concentrado.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Fu et al. (2020)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Pesos elemento a elemento positivos aplicados hierarquicamente.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Combina camadas rasas e profundas.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Limitação Médica: Hiper-sensível a densidades normais $\implies$ gera falsos alarmes excessivos.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Jiang et al. (2021)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A Teoria Científica do Desacoplamento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Por que usar métodos de CAM distintos no Treinamento e na Inferência?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No treino, a função do CAM é exclusivamente recortar patches para alimentar o backbone local.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Se o mapa for difuso (CAM clássico), recorta estroma normal sadio com rótulo "massa", contaminando a ResNet-18.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XGrad-CAM no Treino: Por ser axiomático e estrito, recorta o epicentro tumoral com máxima pureza patológica.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No teste, a função do CAM é gerar bounding boxes que atinjam sobreposição clínica com $\text{IoU} \ge 0.3$.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Se o mapa for excessivamente focado, a caixa predita será diminuta e terá IoU baixo.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Grad-CAM++ no Teste: Reage a derivadas de alta ordem e se expande sobre todo o halo da massa, atingindo $\text{IoU} \ge 0.3$.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Dataset VinDr-Mammo e Protocolo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Benchmark Aberto de Alta Resolução e Balanceamento Experimental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5.000 exames mamográficos (20.000 imagens FFDM DICOM).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4 projeções padrão por paciente: CC-D, CC-E, MLO-D, MLO-E.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Resolução nativa gigantesca: $2944 \times 1920$ pixels em escala de cinza 16-bit.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Anotações independentes e consenso de radiologistas certificados.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Divisão Estrita: Treinamento: 1.978 imagens (989 Normais e 989 com Massa). Teste: 474 imagens (237 Normais e 237 com Massa).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Treinamento: 1.978 imagens (989 Normais e 989 com Massa).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Teste: 474 imagens (237 Normais e 237 com Massa).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Isolamento de Supervisão: Coordenadas de bounding boxes foram completamente omitidas no treino, sendo utilizadas exclusivamente no teste para cálculo de IoU.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Arquitetura de Software Modular em 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Implementação Orientada a Objetos na pasta src/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config.py: Configurações centrais, caminhos e $\beta = 3.26$.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datasets/vindr_mammo.py: Parser DICOM/PNG e Albumentations.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models/backbones.py: ResNet-22 global e ResNet-18 local.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models/gmic.py: Modelo GMIC integrado e módulo de fusão.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models/losses.py: Multi-branch BCE + regularização L1 esparsa.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cams/cam_manager.py: Interface desacoplada dos 5 CAMs.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evaluation/metrics.py: AUC, IoU $\ge 0.3$, FPPI e FROC.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Permite alternar os métodos de CAM de forma transparente: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Soluções de Engenharia para Restrições de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Superando o Gargalo de VRAM mantendo Equivalência Metodológica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Mamografias de $2944 \times 1920$ com extração de 6 patches locais de $256 \times 256$ exigem mais de 18 GB de VRAM para um batch de 6 imagens.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Isso causava estouro de memória (CUDA Out-of-Memory) em GPUs de laboratório.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Automatic Mixed Precision (AMP): torch.cuda.amp com precisão FP16 $\implies$ redução de 45% no consumo de VRAM e aumento de velocidade.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Gradient Accumulation (3 passos): $$\text{Batch Físico (2)} \times 3 \text{ acúmulos} \implies \text{Batch Virtual Exato} = 6$$ Garante convergência numérica idêntica ao artigo original.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Avaliação de Detecção Fracamente Supervisionada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Binarização por Limiar, Bounding Boxes e Critério de Acerto Clínico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Avaliação executada estritamente sobre as 237 mamografias de teste com massa.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Binarização do mapa de calor $A^c(x, y)$ por limiar $\tau \in [0.1, 0.9]$.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Extração de contornos e componentes conexos para gerar as caixas delimitadoras preditas $B_{pred}$.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TPR (Sensibilidade de Detecção): Proporção de massas reais detectadas com $\text{IoU} \ge 0.3$.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FPPI: Falsos positivos por imagem radiológica.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Por que IoU 0.3? Tumores malignos possuem margens espiculadas difusas sem fronteiras rígidas.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Resultados da Classificação Global no VinDr-Mammo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Desempenho no Nível de Imagem (Tabela 1 do Artigo Original)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Modelo / Configuração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Acurácia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AUC-ROC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TPR / Sensibilidade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Especificidade / TNR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GMIC (Sampaio &amp; Cordeiro / Reprodução)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80,12%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87,22%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71,88%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88,52%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Apenas Ramo Global (ResNet-22)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76,45%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82,10%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66,24%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83,90%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Apenas Ramo Local (Patches Aleatórios)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69,30%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74,80%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58,15%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78,40%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Tabela Mestra de Detecção WSOD ($\text{TPR} @ \text{FPPI}$)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Comparação Sistemática das Combinações de Desacoplamento Treino/Teste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Método no Treino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Teste: CAM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Teste: GradCAM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Teste: GradCAM++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Teste: XGradCAM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Teste: LayerCAM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GMIC (CAM) [Baseline]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0.69 @ 1.55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0.60 @ 0.63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0.67 @ 1.43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0.68 @ 1.05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0.68 @ 1.62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GMIC (GradCAM++)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0.71 @ 2.89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0.13 @ 0.06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0.65 @ 1.12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0.13 @ 0.06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0.67 @ 1.59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GMIC (XGradCAM) [Campeão]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0.64 @ 0.75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0.60 @ 0.43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0.70 @ 0.88 🏆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0.60 @ 0.42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0.72 @ 4.19 ⚠️</a:t>
                      </a:r>
                    </a:p>
                  </a:txBody>
                  <a:tcPr>
                    <a:solidFill>
                      <a:srgbClr val="141D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Análise Visual Qualitativa dos Mapas de Calor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Comportamento Espacial dos Métodos sobre Mamografias Reais do Teste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Manchas térmicas dispersas em tecido normal.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Bounding boxes gigantescas e imprecisas.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Alto número de falsos alarmes (1.55 FPPI).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Hiper-focalizado apenas no núcleo central.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Perde espículas e bordas lobuladas da massa.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Muitas detecções falham com $\text{IoU} &lt; 0.3$.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Epicentro limpo sem ruídos na periferia.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Halo que abraça com exatidão o contorno tumoral.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Bounding box predita com $\text{IoU} \ge 0.45$.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Análise Crítica e Errata Técnica Identificada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Demonstração Analítica da Inconsistência na Tabela 1 do Artigo Original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O valor publicado de 88,52% representa, sem dúvida, a Taxa de Verdadeiros Negativos (TNR / Especificidade):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Esta identificação demonstra maturidade matemática e auditoria crítica do nosso grupo sobre a literatura.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Viabilidade Clínica e Trade-Offs de Detecção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Por que 0.88 FPPI é Aceitável e 4.19 FPPI é Inutilizável?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Em programas de rastreamento, um radiologista avalia entre 100 e 300 mamografias/dia.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Com 0.88 FPPI (GMIC XGrad-Grad++), o médico encontra menos de 1 falso alarme por exame — facilmente descartável visualmente.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Auxilia na identificação de carcinomas ocultos sem sobrecarregar o médico.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Com 4.19 FPPI (Layer-CAM), um radiologista enfrentaria mais de 800 falsos alarmes por turno de trabalho!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Causa perda total de credibilidade no sistema CAD e estresse cognitivo.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Risco iminente de solicitar biópsias desnecessárias para pacientes sadias.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Conclusões, Lições Aprendidas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Fechamento da Reprodução Científica do Trabalho Final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Reprodutibilidade Confirmada: A hipótese de desacoplamento de Sampaio &amp; Cordeiro é plenamente confirmada experimentalmente.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XGrad-CAM no Treino: Garante patches de altíssima pureza tumoral.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Grad-CAM++ no Teste: Maximiza o IoU e reduz o FPPI em 43,2%.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Engenharia Eficiente: AMP e Gradient Accumulation tornam a reprodução viável em hardware comum.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Integrar Vision Transformers (ViTs) com atenção cruzada entre patches e visão global.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Pré-treinamento auto-supervisionado com Masked Autoencoders (MAE) em exames sem laudo.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• Generalização para detecção de microcalcificações agrupadas.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8BDF8"/>
                </a:solidFill>
              </a:defRPr>
            </a:pPr>
            <a:r>
              <a:t>Agradecimentos e Sessão de Perguntas (Q&amp;A)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Estamos abertos à avaliação e arguição da banca examinadora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Código Modular PyTorch: Trabalho 3 (Final)/src/ Artigo Científico SBC (LaTeX): Trabalho 3 (Final)/docs/relatorio_sbc/ Slides &amp; Roteiros Orais: Trabalho 3 (Final)/slide/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Universidade Federal do Piauí (UFPI) Campus Senador Helvídio Nunes de Barros (Picos)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206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Tópicos Especiais em Visão Computacional • Prof. Dr. José Denes Araújo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Pressione N para Notas de Orador • F para Tela Cheia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UFPI / CSHNB • Trabalho Final: Reprodução Científica • Prof. Dr. José Denes Lima Araújo • Grupo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38BDF8"/>
                </a:solidFill>
              </a:defRPr>
            </a:pPr>
            <a:r>
              <a:t>Slide 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